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683258e17394d7d" /><Relationship Type="http://schemas.openxmlformats.org/officeDocument/2006/relationships/extended-properties" Target="/docProps/app.xml" Id="Rb9f185d683f84bdb" /><Relationship Type="http://schemas.openxmlformats.org/officeDocument/2006/relationships/officeDocument" Target="/ppt/presentation.xml" Id="Rb413c69ebd56460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549b6295b834c56"/>
  </p:sldMasterIdLst>
  <p:notesMasterIdLst>
    <p:notesMasterId xmlns:r="http://schemas.openxmlformats.org/officeDocument/2006/relationships" r:id="Rdb3b20415bff4734"/>
  </p:notesMasterIdLst>
  <p:sldIdLst>
    <p:sldId xmlns:r="http://schemas.openxmlformats.org/officeDocument/2006/relationships" id="256" r:id="Rdb94a1a4f2fa4d9d"/>
    <p:sldId xmlns:r="http://schemas.openxmlformats.org/officeDocument/2006/relationships" id="257" r:id="Rc6d82624d1014373"/>
    <p:sldId xmlns:r="http://schemas.openxmlformats.org/officeDocument/2006/relationships" id="258" r:id="Ra04a992d3bce4acc"/>
    <p:sldId xmlns:r="http://schemas.openxmlformats.org/officeDocument/2006/relationships" id="259" r:id="R07a4b255b4154a1d"/>
    <p:sldId xmlns:r="http://schemas.openxmlformats.org/officeDocument/2006/relationships" id="260" r:id="R5fae902b87a6443e"/>
    <p:sldId xmlns:r="http://schemas.openxmlformats.org/officeDocument/2006/relationships" id="261" r:id="Rdc7154aa2a564312"/>
    <p:sldId xmlns:r="http://schemas.openxmlformats.org/officeDocument/2006/relationships" id="262" r:id="R1f0cebf4d92748eb"/>
    <p:sldId xmlns:r="http://schemas.openxmlformats.org/officeDocument/2006/relationships" id="263" r:id="R11b656965116438f"/>
    <p:sldId xmlns:r="http://schemas.openxmlformats.org/officeDocument/2006/relationships" id="264" r:id="Rde4a1144345e42d0"/>
    <p:sldId xmlns:r="http://schemas.openxmlformats.org/officeDocument/2006/relationships" id="265" r:id="Ra47d74a3a1604ddc"/>
    <p:sldId xmlns:r="http://schemas.openxmlformats.org/officeDocument/2006/relationships" id="266" r:id="Ra7e082d4fe124500"/>
    <p:sldId xmlns:r="http://schemas.openxmlformats.org/officeDocument/2006/relationships" id="267" r:id="R94e2e7f83cdf471a"/>
    <p:sldId xmlns:r="http://schemas.openxmlformats.org/officeDocument/2006/relationships" id="268" r:id="R306d817b86394b3a"/>
    <p:sldId xmlns:r="http://schemas.openxmlformats.org/officeDocument/2006/relationships" id="269" r:id="R4378674c2d944f8e"/>
    <p:sldId xmlns:r="http://schemas.openxmlformats.org/officeDocument/2006/relationships" id="270" r:id="Rcb4274cdb95942e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e2f5247463b4839" /><Relationship Type="http://schemas.openxmlformats.org/officeDocument/2006/relationships/slideMaster" Target="/ppt/slideMasters/slideMaster1.xml" Id="R3549b6295b834c56" /><Relationship Type="http://schemas.openxmlformats.org/officeDocument/2006/relationships/notesMaster" Target="/ppt/notesMasters/notesMaster1.xml" Id="Rdb3b20415bff4734" /><Relationship Type="http://schemas.openxmlformats.org/officeDocument/2006/relationships/presProps" Target="/ppt/presProps.xml" Id="R85bf855a246e4c6b" /><Relationship Type="http://schemas.openxmlformats.org/officeDocument/2006/relationships/tableStyles" Target="/ppt/tableStyles.xml" Id="R07f34f42dc174483" /><Relationship Type="http://schemas.openxmlformats.org/officeDocument/2006/relationships/slide" Target="/ppt/slides/slide1.xml" Id="Rdb94a1a4f2fa4d9d" /><Relationship Type="http://schemas.openxmlformats.org/officeDocument/2006/relationships/slide" Target="/ppt/slides/slide2.xml" Id="Rc6d82624d1014373" /><Relationship Type="http://schemas.openxmlformats.org/officeDocument/2006/relationships/slide" Target="/ppt/slides/slide3.xml" Id="Ra04a992d3bce4acc" /><Relationship Type="http://schemas.openxmlformats.org/officeDocument/2006/relationships/slide" Target="/ppt/slides/slide4.xml" Id="R07a4b255b4154a1d" /><Relationship Type="http://schemas.openxmlformats.org/officeDocument/2006/relationships/slide" Target="/ppt/slides/slide5.xml" Id="R5fae902b87a6443e" /><Relationship Type="http://schemas.openxmlformats.org/officeDocument/2006/relationships/slide" Target="/ppt/slides/slide6.xml" Id="Rdc7154aa2a564312" /><Relationship Type="http://schemas.openxmlformats.org/officeDocument/2006/relationships/slide" Target="/ppt/slides/slide7.xml" Id="R1f0cebf4d92748eb" /><Relationship Type="http://schemas.openxmlformats.org/officeDocument/2006/relationships/slide" Target="/ppt/slides/slide8.xml" Id="R11b656965116438f" /><Relationship Type="http://schemas.openxmlformats.org/officeDocument/2006/relationships/slide" Target="/ppt/slides/slide9.xml" Id="Rde4a1144345e42d0" /><Relationship Type="http://schemas.openxmlformats.org/officeDocument/2006/relationships/slide" Target="/ppt/slides/slide10.xml" Id="Ra47d74a3a1604ddc" /><Relationship Type="http://schemas.openxmlformats.org/officeDocument/2006/relationships/slide" Target="/ppt/slides/slide11.xml" Id="Ra7e082d4fe124500" /><Relationship Type="http://schemas.openxmlformats.org/officeDocument/2006/relationships/slide" Target="/ppt/slides/slide12.xml" Id="R94e2e7f83cdf471a" /><Relationship Type="http://schemas.openxmlformats.org/officeDocument/2006/relationships/slide" Target="/ppt/slides/slide13.xml" Id="R306d817b86394b3a" /><Relationship Type="http://schemas.openxmlformats.org/officeDocument/2006/relationships/slide" Target="/ppt/slides/slide14.xml" Id="R4378674c2d944f8e" /><Relationship Type="http://schemas.openxmlformats.org/officeDocument/2006/relationships/slide" Target="/ppt/slides/slide15.xml" Id="Rcb4274cdb95942e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f40a9eb4bcb4fe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f5757e39a4647b9" /><Relationship Type="http://schemas.openxmlformats.org/officeDocument/2006/relationships/notesMaster" Target="/ppt/notesMasters/notesMaster1.xml" Id="R45ce2cd65199419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8bf62d6dfb54e85" /><Relationship Type="http://schemas.openxmlformats.org/officeDocument/2006/relationships/notesMaster" Target="/ppt/notesMasters/notesMaster1.xml" Id="R1af94b241597435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6646d4195334507" /><Relationship Type="http://schemas.openxmlformats.org/officeDocument/2006/relationships/notesMaster" Target="/ppt/notesMasters/notesMaster1.xml" Id="Re3e8de5fdb5d4ca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528e219a0564fe9" /><Relationship Type="http://schemas.openxmlformats.org/officeDocument/2006/relationships/notesMaster" Target="/ppt/notesMasters/notesMaster1.xml" Id="R19ee4a30efa04d8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0b03f4483094c71" /><Relationship Type="http://schemas.openxmlformats.org/officeDocument/2006/relationships/notesMaster" Target="/ppt/notesMasters/notesMaster1.xml" Id="Rb4f5ec9651e1434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5a311ab718649ee" /><Relationship Type="http://schemas.openxmlformats.org/officeDocument/2006/relationships/notesMaster" Target="/ppt/notesMasters/notesMaster1.xml" Id="R33325a8ac8e544b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fa23a81d843429a" /><Relationship Type="http://schemas.openxmlformats.org/officeDocument/2006/relationships/notesMaster" Target="/ppt/notesMasters/notesMaster1.xml" Id="Re7d31e4fec0049c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2aa340fab074583" /><Relationship Type="http://schemas.openxmlformats.org/officeDocument/2006/relationships/notesMaster" Target="/ppt/notesMasters/notesMaster1.xml" Id="R3968b657604e4f9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2990c349def439d" /><Relationship Type="http://schemas.openxmlformats.org/officeDocument/2006/relationships/notesMaster" Target="/ppt/notesMasters/notesMaster1.xml" Id="Rb642b9d6045c41e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dd18e2931f449e7" /><Relationship Type="http://schemas.openxmlformats.org/officeDocument/2006/relationships/notesMaster" Target="/ppt/notesMasters/notesMaster1.xml" Id="Rf51d3593f67e41e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144b8d700cc4d31" /><Relationship Type="http://schemas.openxmlformats.org/officeDocument/2006/relationships/notesMaster" Target="/ppt/notesMasters/notesMaster1.xml" Id="R6ee8c84c0165462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1bfc30df5be4c21" /><Relationship Type="http://schemas.openxmlformats.org/officeDocument/2006/relationships/notesMaster" Target="/ppt/notesMasters/notesMaster1.xml" Id="R7d86ecd0206a45f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123903b2b444624" /><Relationship Type="http://schemas.openxmlformats.org/officeDocument/2006/relationships/notesMaster" Target="/ppt/notesMasters/notesMaster1.xml" Id="Rcdf8593cdc2c4d0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8803ec1bbdc4f8a" /><Relationship Type="http://schemas.openxmlformats.org/officeDocument/2006/relationships/notesMaster" Target="/ppt/notesMasters/notesMaster1.xml" Id="Ree2eb7811216460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7aafcee56624df1" /><Relationship Type="http://schemas.openxmlformats.org/officeDocument/2006/relationships/notesMaster" Target="/ppt/notesMasters/notesMaster1.xml" Id="R3a1c48d14c204dc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ab5a4ea603465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bf6b261e19f4dae" /><Relationship Type="http://schemas.openxmlformats.org/officeDocument/2006/relationships/slideLayout" Target="/ppt/slideLayouts/slideLayout1.xml" Id="R6b5826411b62484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b5826411b62484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02396af5584d96" /><Relationship Type="http://schemas.openxmlformats.org/officeDocument/2006/relationships/image" Target="/ppt/media/image.png" Id="Redf89e261e7346df" /><Relationship Type="http://schemas.openxmlformats.org/officeDocument/2006/relationships/notesSlide" Target="/ppt/notesSlides/notesSlide1.xml" Id="Rcfebb984ee75408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f975505a7c4650" /><Relationship Type="http://schemas.openxmlformats.org/officeDocument/2006/relationships/notesSlide" Target="/ppt/notesSlides/notesSlide2.xml" Id="R2b04e9ca66a0490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15ffcac9434ca5" /><Relationship Type="http://schemas.openxmlformats.org/officeDocument/2006/relationships/notesSlide" Target="/ppt/notesSlides/notesSlide3.xml" Id="Rfb8efb8f762b4fd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6db28e37bf4a56" /><Relationship Type="http://schemas.openxmlformats.org/officeDocument/2006/relationships/notesSlide" Target="/ppt/notesSlides/notesSlide4.xml" Id="Rc42b29713993498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350445b78a44de" /><Relationship Type="http://schemas.openxmlformats.org/officeDocument/2006/relationships/notesSlide" Target="/ppt/notesSlides/notesSlide5.xml" Id="R2181ca03f1b241e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92c721e02a404c" /><Relationship Type="http://schemas.openxmlformats.org/officeDocument/2006/relationships/notesSlide" Target="/ppt/notesSlides/notesSlide6.xml" Id="R61ac8197e3d04b0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1217f2efbf4e2f" /><Relationship Type="http://schemas.openxmlformats.org/officeDocument/2006/relationships/notesSlide" Target="/ppt/notesSlides/notesSlide7.xml" Id="R1c8fc5d086d4496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b4d33d8de64c0e" /><Relationship Type="http://schemas.openxmlformats.org/officeDocument/2006/relationships/notesSlide" Target="/ppt/notesSlides/notesSlide8.xml" Id="R6fcccc5937d24d0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fcaea3f6534f81" /><Relationship Type="http://schemas.openxmlformats.org/officeDocument/2006/relationships/notesSlide" Target="/ppt/notesSlides/notesSlide9.xml" Id="Rf143acd9697848a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ab068301204df6" /><Relationship Type="http://schemas.openxmlformats.org/officeDocument/2006/relationships/notesSlide" Target="/ppt/notesSlides/notesSlide10.xml" Id="Rb509699105ce47c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6d9fea7855436d" /><Relationship Type="http://schemas.openxmlformats.org/officeDocument/2006/relationships/notesSlide" Target="/ppt/notesSlides/notesSlide11.xml" Id="Re7f603624449431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5386b2443c4783" /><Relationship Type="http://schemas.openxmlformats.org/officeDocument/2006/relationships/notesSlide" Target="/ppt/notesSlides/notesSlide12.xml" Id="R27dc62e66f8a4fb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751a4c77514899" /><Relationship Type="http://schemas.openxmlformats.org/officeDocument/2006/relationships/notesSlide" Target="/ppt/notesSlides/notesSlide13.xml" Id="R6170cb7ba72d4b8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a908b30ad14468" /><Relationship Type="http://schemas.openxmlformats.org/officeDocument/2006/relationships/notesSlide" Target="/ppt/notesSlides/notesSlide14.xml" Id="R187fb0a7dd7547c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ab97a4ff254bd5" /><Relationship Type="http://schemas.openxmlformats.org/officeDocument/2006/relationships/notesSlide" Target="/ppt/notesSlides/notesSlide15.xml" Id="R25bde2685508445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113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f89e261e7346df"/>
          <a:srcRect xmlns:a="http://schemas.openxmlformats.org/drawingml/2006/main" l="23828" t="0" r="2382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10250" y="0"/>
            <a:ext cx="63817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6AA797-B5EF-40A2-8BDC-37A1F64AE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0"/>
            <a:ext cx="219075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1EC295-AFE8-4C00-9DCD-8329444E7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495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4F1E8"/>
                </a:solidFill>
              </a:defRPr>
            </a:pPr>
            <a:r>
              <a:rPr sz="4050" b="1">
                <a:solidFill>
                  <a:srgbClr val="F4F1E8"/>
                </a:solidFill>
              </a:rPr>
              <a:t>MM_2D_6KProj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B9024C-173A-4EBD-9020-91576A775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533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0B94D"/>
                </a:solidFill>
              </a:defRPr>
            </a:pPr>
            <a:r>
              <a:rPr sz="2100" b="1">
                <a:solidFill>
                  <a:srgbClr val="F0B94D"/>
                </a:solidFill>
              </a:rPr>
              <a:t>2D Action Boss Rush Portfolio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8B2D52-E4AE-4200-9C49-F64401E0A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33650"/>
            <a:ext cx="5334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B9B3A5"/>
                </a:solidFill>
              </a:defRPr>
            </a:pPr>
            <a:r>
              <a:rPr sz="1650" b="0">
                <a:solidFill>
                  <a:srgbClr val="B9B3A5"/>
                </a:solidFill>
              </a:rPr>
              <a:t>킹덤 뉴 랜즈형 아이디어에서 메트로베니아를 거쳐,</a:t>
            </a:r>
          </a:p>
          <a:p xmlns:a="http://schemas.openxmlformats.org/drawingml/2006/main">
            <a:pPr algn="l">
              <a:defRPr sz="1650" b="0">
                <a:solidFill>
                  <a:srgbClr val="B9B3A5"/>
                </a:solidFill>
              </a:defRPr>
            </a:pPr>
            <a:r>
              <a:rPr sz="1650" b="0">
                <a:solidFill>
                  <a:srgbClr val="B9B3A5"/>
                </a:solidFill>
              </a:rPr>
              <a:t>취업 포트폴리오 완성을 목표로 3 Stage Boss Rush로 재설계한 Unity 2D 액션 프로젝트입니다.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6A4649-48E2-4070-A4E1-F0A166DB7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1695450" cy="3238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6AA6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E1CC27-8764-41C4-BBC8-6FCF1D810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38625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6AA6FF"/>
                </a:solidFill>
              </a:defRPr>
            </a:pPr>
            <a:r>
              <a:rPr sz="1125" b="1">
                <a:solidFill>
                  <a:srgbClr val="6AA6FF"/>
                </a:solidFill>
              </a:rPr>
              <a:t>Unity 6000.3.8f1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CEDD47-53F6-4195-BBBD-45602106E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171950"/>
            <a:ext cx="1695450" cy="3238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61C47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E3B93B-17ED-4F3E-813D-02C7E278F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238625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61C47A"/>
                </a:solidFill>
              </a:defRPr>
            </a:pPr>
            <a:r>
              <a:rPr sz="1125" b="1">
                <a:solidFill>
                  <a:srgbClr val="61C47A"/>
                </a:solidFill>
              </a:rPr>
              <a:t>Pixel Perfect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AB8108-FFE2-4644-BB47-F1EC4ED23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171950"/>
            <a:ext cx="1695450" cy="3238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F0B94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D1E5A6-BBED-4D29-A854-E2A4A1650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238625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0B94D"/>
                </a:solidFill>
              </a:defRPr>
            </a:pPr>
            <a:r>
              <a:rPr sz="1125" b="1">
                <a:solidFill>
                  <a:srgbClr val="F0B94D"/>
                </a:solidFill>
              </a:rPr>
              <a:t>Unity VCS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9BC9A7-3897-458B-91E7-D3F506396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4572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F1E8"/>
                </a:solidFill>
              </a:defRPr>
            </a:pPr>
            <a:r>
              <a:rPr sz="1650" b="1">
                <a:solidFill>
                  <a:srgbClr val="F4F1E8"/>
                </a:solidFill>
              </a:rPr>
              <a:t>조성재</a:t>
            </a:r>
          </a:p>
          <a:p xmlns:a="http://schemas.openxmlformats.org/drawingml/2006/main">
            <a:pPr algn="l">
              <a:defRPr sz="1650" b="1">
                <a:solidFill>
                  <a:srgbClr val="F4F1E8"/>
                </a:solidFill>
              </a:defRPr>
            </a:pPr>
            <a:r>
              <a:rPr sz="1650" b="1">
                <a:solidFill>
                  <a:srgbClr val="F4F1E8"/>
                </a:solidFill>
              </a:rPr>
              <a:t>sjjfire123@naver.com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6D0C54-27A6-45A5-BCB9-2F31F75B5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F8792"/>
                </a:solidFill>
              </a:defRPr>
            </a:pPr>
            <a:r>
              <a:rPr sz="975" b="0">
                <a:solidFill>
                  <a:srgbClr val="7F8792"/>
                </a:solidFill>
              </a:rPr>
              <a:t>조성재 | sjjfire123@naver.com | Unity Version Control | 01</a:t>
            </a:r>
          </a:p>
        </p:txBody>
      </p:sp>
    </p:spTree>
    <p:extLst>
      <p:ext uri="{BB962C8B-B14F-4D97-AF65-F5344CB8AC3E}">
        <p14:creationId xmlns:p14="http://schemas.microsoft.com/office/powerpoint/2010/main" val="104037268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113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5F0E7C-7934-4995-A667-88D8BC109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0B94D"/>
                </a:solidFill>
              </a:defRPr>
            </a:pPr>
            <a:r>
              <a:rPr sz="1125" b="1">
                <a:solidFill>
                  <a:srgbClr val="F0B94D"/>
                </a:solidFill>
              </a:rPr>
              <a:t>MM_2D_6KProj Portfolio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D31DF3-D999-437C-9266-FC24A79B8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4F1E8"/>
                </a:solidFill>
              </a:defRPr>
            </a:pPr>
            <a:r>
              <a:rPr sz="2700" b="1">
                <a:solidFill>
                  <a:srgbClr val="F4F1E8"/>
                </a:solidFill>
              </a:rPr>
              <a:t>이 프로젝트의 핵심은 스코프를 줄여 완성도를 올린 것입니다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CC1368-425D-483C-90C3-4EC1BCC6F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946"/>
          </a:solidFill>
          <a:ln xmlns:a="http://schemas.openxmlformats.org/drawingml/2006/main" w="0">
            <a:solidFill>
              <a:srgbClr val="34394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B3B48B-BDA5-4A5B-AB02-0EBEF1664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3143250" cy="2381250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171A21"/>
          </a:solidFill>
          <a:ln xmlns:a="http://schemas.openxmlformats.org/drawingml/2006/main" w="9525">
            <a:solidFill>
              <a:srgbClr val="34394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3AE5E0-0F61-4028-BF31-919BB2582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62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6FF"/>
          </a:solidFill>
          <a:ln xmlns:a="http://schemas.openxmlformats.org/drawingml/2006/main" w="0">
            <a:solidFill>
              <a:srgbClr val="6AA6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791405-A6D0-45B5-B4CD-C23EFCEB6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19300"/>
            <a:ext cx="2686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4F1E8"/>
                </a:solidFill>
              </a:defRPr>
            </a:pPr>
            <a:r>
              <a:rPr sz="1725" b="1">
                <a:solidFill>
                  <a:srgbClr val="F4F1E8"/>
                </a:solidFill>
              </a:rPr>
              <a:t>초기 구상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A204DE-9475-4C4E-A4D8-4F0852EB7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57450"/>
            <a:ext cx="268605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9B3A5"/>
                </a:solidFill>
              </a:defRPr>
            </a:pPr>
            <a:r>
              <a:rPr sz="1350" b="0">
                <a:solidFill>
                  <a:srgbClr val="B9B3A5"/>
                </a:solidFill>
              </a:rPr>
              <a:t>킹덤 뉴 랜즈처럼 탐험과 거점 운영이 섞인 횡스크롤 게임을 목표로 시작했습니다.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2C197A-6472-47DF-A70E-15D62B4B7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809750"/>
            <a:ext cx="3143250" cy="2381250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171A21"/>
          </a:solidFill>
          <a:ln xmlns:a="http://schemas.openxmlformats.org/drawingml/2006/main" w="9525">
            <a:solidFill>
              <a:srgbClr val="34394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ABB2EA-D62E-4007-887B-A13602DFD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809750"/>
            <a:ext cx="762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B94D"/>
          </a:solidFill>
          <a:ln xmlns:a="http://schemas.openxmlformats.org/drawingml/2006/main" w="0">
            <a:solidFill>
              <a:srgbClr val="F0B94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BBF420-E6CA-4DF1-A7FD-889B5EF4A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019300"/>
            <a:ext cx="2686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4F1E8"/>
                </a:solidFill>
              </a:defRPr>
            </a:pPr>
            <a:r>
              <a:rPr sz="1725" b="1">
                <a:solidFill>
                  <a:srgbClr val="F4F1E8"/>
                </a:solidFill>
              </a:rPr>
              <a:t>중간 전환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1E2784-5A71-446D-9EFF-F685B90C1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457450"/>
            <a:ext cx="268605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9B3A5"/>
                </a:solidFill>
              </a:defRPr>
            </a:pPr>
            <a:r>
              <a:rPr sz="1350" b="0">
                <a:solidFill>
                  <a:srgbClr val="B9B3A5"/>
                </a:solidFill>
              </a:rPr>
              <a:t>메트로베니아 액션 플랫포머로 방향을 바꿨지만, 스토리와 레벨 디자인 범위가 커졌습니다.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8EB0C7-FCAF-48CB-8753-7688A3FE8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809750"/>
            <a:ext cx="3143250" cy="2381250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171A21"/>
          </a:solidFill>
          <a:ln xmlns:a="http://schemas.openxmlformats.org/drawingml/2006/main" w="9525">
            <a:solidFill>
              <a:srgbClr val="34394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B79B24-7F0F-4760-AC87-FDCC77F55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809750"/>
            <a:ext cx="762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5B4F"/>
          </a:solidFill>
          <a:ln xmlns:a="http://schemas.openxmlformats.org/drawingml/2006/main" w="0">
            <a:solidFill>
              <a:srgbClr val="E45B4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335EC2-8EBE-4E50-86E1-D0EB07284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019300"/>
            <a:ext cx="2686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4F1E8"/>
                </a:solidFill>
              </a:defRPr>
            </a:pPr>
            <a:r>
              <a:rPr sz="1725" b="1">
                <a:solidFill>
                  <a:srgbClr val="F4F1E8"/>
                </a:solidFill>
              </a:rPr>
              <a:t>최종 결정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28FB31-7CC4-4EB5-A10E-9455A04B8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457450"/>
            <a:ext cx="268605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9B3A5"/>
                </a:solidFill>
              </a:defRPr>
            </a:pPr>
            <a:r>
              <a:rPr sz="1350" b="0">
                <a:solidFill>
                  <a:srgbClr val="B9B3A5"/>
                </a:solidFill>
              </a:rPr>
              <a:t>취업 포트폴리오 제출을 위해 3개 스테이지와 보스 전투 중심 구조로 압축했습니다.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F1305C-B0D5-47C6-88EE-03E301CB3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5775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4F1E8"/>
                </a:solidFill>
              </a:defRPr>
            </a:pPr>
            <a:r>
              <a:rPr sz="1800" b="1">
                <a:solidFill>
                  <a:srgbClr val="F4F1E8"/>
                </a:solidFill>
              </a:rPr>
              <a:t>배운 점: 하고 싶은 게임을 전부 담기보다, 지금의 실력과 일정 안에서 끝까지 완성할 수 있는 구조를 선택했습니다.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27BD36-F8DD-4703-A8BD-F1E3E06FE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F8792"/>
                </a:solidFill>
              </a:defRPr>
            </a:pPr>
            <a:r>
              <a:rPr sz="975" b="0">
                <a:solidFill>
                  <a:srgbClr val="7F8792"/>
                </a:solidFill>
              </a:rPr>
              <a:t>조성재 | sjjfire123@naver.com | Unity Version Control | 02</a:t>
            </a:r>
          </a:p>
        </p:txBody>
      </p:sp>
    </p:spTree>
    <p:extLst>
      <p:ext uri="{BB962C8B-B14F-4D97-AF65-F5344CB8AC3E}">
        <p14:creationId xmlns:p14="http://schemas.microsoft.com/office/powerpoint/2010/main" val="123211082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113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666E7C-572C-4A38-A844-8787CE327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0B94D"/>
                </a:solidFill>
              </a:defRPr>
            </a:pPr>
            <a:r>
              <a:rPr sz="1125" b="1">
                <a:solidFill>
                  <a:srgbClr val="F0B94D"/>
                </a:solidFill>
              </a:rPr>
              <a:t>MM_2D_6KProj Portfolio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859B86-5BB8-4CE6-95D8-5E92C4ADE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4F1E8"/>
                </a:solidFill>
              </a:defRPr>
            </a:pPr>
            <a:r>
              <a:rPr sz="2700" b="1">
                <a:solidFill>
                  <a:srgbClr val="F4F1E8"/>
                </a:solidFill>
              </a:rPr>
              <a:t>포트폴리오 관점에서 보여주려는 역량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25F936-2853-4E98-B9E5-FA641FA26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946"/>
          </a:solidFill>
          <a:ln xmlns:a="http://schemas.openxmlformats.org/drawingml/2006/main" w="0">
            <a:solidFill>
              <a:srgbClr val="34394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86AEDB-183F-4148-88EF-F7E67FD93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28800"/>
            <a:ext cx="97155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4F1E8"/>
                </a:solidFill>
              </a:defRPr>
            </a:pPr>
            <a:r>
              <a:rPr sz="1800" b="0">
                <a:solidFill>
                  <a:srgbClr val="F4F1E8"/>
                </a:solidFill>
              </a:rPr>
              <a:t>- 액션 조작: 이동, 점프, 회피, 3타 콤보, 상하단 공격 흐름 구현</a:t>
            </a:r>
          </a:p>
          <a:p xmlns:a="http://schemas.openxmlformats.org/drawingml/2006/main">
            <a:pPr algn="l">
              <a:defRPr sz="1800" b="0">
                <a:solidFill>
                  <a:srgbClr val="F4F1E8"/>
                </a:solidFill>
              </a:defRPr>
            </a:pPr>
            <a:r>
              <a:rPr sz="1800" b="0">
                <a:solidFill>
                  <a:srgbClr val="F4F1E8"/>
                </a:solidFill>
              </a:rPr>
              <a:t>- 전투 피드백: 피격, 넉백, 무적 시간, 히트스톱, 카메라/애니메이션 반응</a:t>
            </a:r>
          </a:p>
          <a:p xmlns:a="http://schemas.openxmlformats.org/drawingml/2006/main">
            <a:pPr algn="l">
              <a:defRPr sz="1800" b="0">
                <a:solidFill>
                  <a:srgbClr val="F4F1E8"/>
                </a:solidFill>
              </a:defRPr>
            </a:pPr>
            <a:r>
              <a:rPr sz="1800" b="0">
                <a:solidFill>
                  <a:srgbClr val="F4F1E8"/>
                </a:solidFill>
              </a:rPr>
              <a:t>- 게임 진행: Stage1 -&gt; Stage2 -&gt; Stage3 -&gt; FinalScene 흐름 관리</a:t>
            </a:r>
          </a:p>
          <a:p xmlns:a="http://schemas.openxmlformats.org/drawingml/2006/main">
            <a:pPr algn="l">
              <a:defRPr sz="1800" b="0">
                <a:solidFill>
                  <a:srgbClr val="F4F1E8"/>
                </a:solidFill>
              </a:defRPr>
            </a:pPr>
            <a:r>
              <a:rPr sz="1800" b="0">
                <a:solidFill>
                  <a:srgbClr val="F4F1E8"/>
                </a:solidFill>
              </a:rPr>
              <a:t>- 저장/이어하기: 위치, 체력, 스태미나, 공격력 저장 및 씬 복원</a:t>
            </a:r>
          </a:p>
          <a:p xmlns:a="http://schemas.openxmlformats.org/drawingml/2006/main">
            <a:pPr algn="l">
              <a:defRPr sz="1800" b="0">
                <a:solidFill>
                  <a:srgbClr val="F4F1E8"/>
                </a:solidFill>
              </a:defRPr>
            </a:pPr>
            <a:r>
              <a:rPr sz="1800" b="0">
                <a:solidFill>
                  <a:srgbClr val="F4F1E8"/>
                </a:solidFill>
              </a:rPr>
              <a:t>- 구조화: EnemyCore와 Brain/Movement/Attack 인터페이스로 적 행동 분리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17A908-F1F2-45A0-859A-6512B3D60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62500"/>
            <a:ext cx="9715500" cy="9144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171A21"/>
          </a:solidFill>
          <a:ln xmlns:a="http://schemas.openxmlformats.org/drawingml/2006/main" w="9525">
            <a:solidFill>
              <a:srgbClr val="34394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C9E720-B871-49FE-905C-3519AA9A3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62500"/>
            <a:ext cx="762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B94D"/>
          </a:solidFill>
          <a:ln xmlns:a="http://schemas.openxmlformats.org/drawingml/2006/main" w="0">
            <a:solidFill>
              <a:srgbClr val="F0B94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900C97-5DAD-4793-87A5-A5DC0DF1C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972050"/>
            <a:ext cx="9258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4F1E8"/>
                </a:solidFill>
              </a:defRPr>
            </a:pPr>
            <a:r>
              <a:rPr sz="1725" b="1">
                <a:solidFill>
                  <a:srgbClr val="F4F1E8"/>
                </a:solidFill>
              </a:rPr>
              <a:t>개발 철학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2F8A18-5AF0-4F6B-A2B1-657B5C310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410200"/>
            <a:ext cx="9258300" cy="7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9B3A5"/>
                </a:solidFill>
              </a:defRPr>
            </a:pPr>
            <a:r>
              <a:rPr sz="1350" b="0">
                <a:solidFill>
                  <a:srgbClr val="B9B3A5"/>
                </a:solidFill>
              </a:rPr>
              <a:t>큰 시스템을 한 번에 완성하려 하기보다, 플레이어 경험에 직접 닿는 기능부터 작게 완성하고 검증했습니다.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3DB327-220E-43B2-8CD1-A5845228C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F8792"/>
                </a:solidFill>
              </a:defRPr>
            </a:pPr>
            <a:r>
              <a:rPr sz="975" b="0">
                <a:solidFill>
                  <a:srgbClr val="7F8792"/>
                </a:solidFill>
              </a:rPr>
              <a:t>조성재 | sjjfire123@naver.com | Unity Version Control | 03</a:t>
            </a:r>
          </a:p>
        </p:txBody>
      </p:sp>
    </p:spTree>
    <p:extLst>
      <p:ext uri="{BB962C8B-B14F-4D97-AF65-F5344CB8AC3E}">
        <p14:creationId xmlns:p14="http://schemas.microsoft.com/office/powerpoint/2010/main" val="193789261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113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48F53AC-90EE-4637-B203-427A6AC33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0B94D"/>
                </a:solidFill>
              </a:defRPr>
            </a:pPr>
            <a:r>
              <a:rPr sz="1125" b="1">
                <a:solidFill>
                  <a:srgbClr val="F0B94D"/>
                </a:solidFill>
              </a:rPr>
              <a:t>MM_2D_6KProj Portfolio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7225AF-1C9A-46B6-8A8E-FDABF3C16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4F1E8"/>
                </a:solidFill>
              </a:defRPr>
            </a:pPr>
            <a:r>
              <a:rPr sz="2700" b="1">
                <a:solidFill>
                  <a:srgbClr val="F4F1E8"/>
                </a:solidFill>
              </a:rPr>
              <a:t>플레이 루프는 짧고 반복 가능한 보스러쉬 구조입니다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145DD5-DE95-4E4E-8577-927882AB2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946"/>
          </a:solidFill>
          <a:ln xmlns:a="http://schemas.openxmlformats.org/drawingml/2006/main" w="0">
            <a:solidFill>
              <a:srgbClr val="34394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8362F6-4BCB-4ADA-81A1-917213DB2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00250"/>
            <a:ext cx="2476500" cy="200025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171A21"/>
          </a:solidFill>
          <a:ln xmlns:a="http://schemas.openxmlformats.org/drawingml/2006/main" w="9525">
            <a:solidFill>
              <a:srgbClr val="34394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2D0F2C-D358-450E-891F-B37D93E52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00250"/>
            <a:ext cx="762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6FF"/>
          </a:solidFill>
          <a:ln xmlns:a="http://schemas.openxmlformats.org/drawingml/2006/main" w="0">
            <a:solidFill>
              <a:srgbClr val="6AA6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A71B37-17B6-4652-81B4-81B24130E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209800"/>
            <a:ext cx="2019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4F1E8"/>
                </a:solidFill>
              </a:defRPr>
            </a:pPr>
            <a:r>
              <a:rPr sz="1725" b="1">
                <a:solidFill>
                  <a:srgbClr val="F4F1E8"/>
                </a:solidFill>
              </a:rPr>
              <a:t>1. 전투 준비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808090-7F1C-4D12-9C29-A7C4D13FC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647950"/>
            <a:ext cx="20193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9B3A5"/>
                </a:solidFill>
              </a:defRPr>
            </a:pPr>
            <a:r>
              <a:rPr sz="1350" b="0">
                <a:solidFill>
                  <a:srgbClr val="B9B3A5"/>
                </a:solidFill>
              </a:rPr>
              <a:t>메인 메뉴에서 시작하거나 저장 데이터를 불러옵니다.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C6F45B-FA5E-4C3A-B3E0-A1D0BFD7B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000250"/>
            <a:ext cx="2476500" cy="200025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171A21"/>
          </a:solidFill>
          <a:ln xmlns:a="http://schemas.openxmlformats.org/drawingml/2006/main" w="9525">
            <a:solidFill>
              <a:srgbClr val="34394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534136-2BEA-4248-942F-ECFBAFE61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000250"/>
            <a:ext cx="762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1C47A"/>
          </a:solidFill>
          <a:ln xmlns:a="http://schemas.openxmlformats.org/drawingml/2006/main" w="0">
            <a:solidFill>
              <a:srgbClr val="61C47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369578-752E-48AB-B7E0-CCB2C9FD9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209800"/>
            <a:ext cx="2019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4F1E8"/>
                </a:solidFill>
              </a:defRPr>
            </a:pPr>
            <a:r>
              <a:rPr sz="1725" b="1">
                <a:solidFill>
                  <a:srgbClr val="F4F1E8"/>
                </a:solidFill>
              </a:rPr>
              <a:t>2. 룸 클리어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10B00A-2992-45E7-B358-B9239D6D3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647950"/>
            <a:ext cx="20193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9B3A5"/>
                </a:solidFill>
              </a:defRPr>
            </a:pPr>
            <a:r>
              <a:rPr sz="1350" b="0">
                <a:solidFill>
                  <a:srgbClr val="B9B3A5"/>
                </a:solidFill>
              </a:rPr>
              <a:t>스테이지 안의 전투 룸을 클리어하며 플레이어 능력치를 유지합니다.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15BC82-5C08-4856-B239-9AAE0AB4F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00250"/>
            <a:ext cx="2476500" cy="200025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171A21"/>
          </a:solidFill>
          <a:ln xmlns:a="http://schemas.openxmlformats.org/drawingml/2006/main" w="9525">
            <a:solidFill>
              <a:srgbClr val="34394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3A961B-516C-46DC-8359-A7294F9E6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00250"/>
            <a:ext cx="762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B94D"/>
          </a:solidFill>
          <a:ln xmlns:a="http://schemas.openxmlformats.org/drawingml/2006/main" w="0">
            <a:solidFill>
              <a:srgbClr val="F0B94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13ED17-0D17-4640-B572-459CBE28E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209800"/>
            <a:ext cx="2019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4F1E8"/>
                </a:solidFill>
              </a:defRPr>
            </a:pPr>
            <a:r>
              <a:rPr sz="1725" b="1">
                <a:solidFill>
                  <a:srgbClr val="F4F1E8"/>
                </a:solidFill>
              </a:rPr>
              <a:t>3. 보스 진입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638C70-C6FF-41E3-AC0B-2F54D415E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647950"/>
            <a:ext cx="20193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9B3A5"/>
                </a:solidFill>
              </a:defRPr>
            </a:pPr>
            <a:r>
              <a:rPr sz="1350" b="0">
                <a:solidFill>
                  <a:srgbClr val="B9B3A5"/>
                </a:solidFill>
              </a:rPr>
              <a:t>조건 달성 후 포탈이 열리고 보스 전투로 이어집니다.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654C28-6EA9-47F3-88FB-2EC4F83B5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000250"/>
            <a:ext cx="2095500" cy="200025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171A21"/>
          </a:solidFill>
          <a:ln xmlns:a="http://schemas.openxmlformats.org/drawingml/2006/main" w="9525">
            <a:solidFill>
              <a:srgbClr val="34394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3C01B4-C205-49A1-BBA6-F506A0E27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000250"/>
            <a:ext cx="762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5B4F"/>
          </a:solidFill>
          <a:ln xmlns:a="http://schemas.openxmlformats.org/drawingml/2006/main" w="0">
            <a:solidFill>
              <a:srgbClr val="E45B4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416748-45CE-4AE8-AF74-3BE214B88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209800"/>
            <a:ext cx="1638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4F1E8"/>
                </a:solidFill>
              </a:defRPr>
            </a:pPr>
            <a:r>
              <a:rPr sz="1725" b="1">
                <a:solidFill>
                  <a:srgbClr val="F4F1E8"/>
                </a:solidFill>
              </a:rPr>
              <a:t>4. 다음 스테이지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708EFB2-8851-47BB-B6D5-0C7A0A593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647950"/>
            <a:ext cx="16383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9B3A5"/>
                </a:solidFill>
              </a:defRPr>
            </a:pPr>
            <a:r>
              <a:rPr sz="1350" b="0">
                <a:solidFill>
                  <a:srgbClr val="B9B3A5"/>
                </a:solidFill>
              </a:rPr>
              <a:t>PlayerRuntimeData가 HP/ST/DMG를 다음 씬까지 전달합니다.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64A4669-69F7-4737-8286-D8EE6B029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577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4F1E8"/>
                </a:solidFill>
              </a:defRPr>
            </a:pPr>
            <a:r>
              <a:rPr sz="1800" b="1">
                <a:solidFill>
                  <a:srgbClr val="F4F1E8"/>
                </a:solidFill>
              </a:rPr>
              <a:t>설계 의도: 스토리/거대 맵 제작 부담을 줄이고, 액션 전투와 시스템 완성도에 시간을 집중했습니다.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812EA6F-F60C-49B8-980A-468855814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F8792"/>
                </a:solidFill>
              </a:defRPr>
            </a:pPr>
            <a:r>
              <a:rPr sz="975" b="0">
                <a:solidFill>
                  <a:srgbClr val="7F8792"/>
                </a:solidFill>
              </a:rPr>
              <a:t>조성재 | sjjfire123@naver.com | Unity Version Control | 04</a:t>
            </a:r>
          </a:p>
        </p:txBody>
      </p:sp>
    </p:spTree>
    <p:extLst>
      <p:ext uri="{BB962C8B-B14F-4D97-AF65-F5344CB8AC3E}">
        <p14:creationId xmlns:p14="http://schemas.microsoft.com/office/powerpoint/2010/main" val="141883542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113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39687A-056C-4E2C-9403-4E7622469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0B94D"/>
                </a:solidFill>
              </a:defRPr>
            </a:pPr>
            <a:r>
              <a:rPr sz="1125" b="1">
                <a:solidFill>
                  <a:srgbClr val="F0B94D"/>
                </a:solidFill>
              </a:rPr>
              <a:t>MM_2D_6KProj Portfolio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EDD35D-97F1-45B0-A28A-B0D09263E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4F1E8"/>
                </a:solidFill>
              </a:defRPr>
            </a:pPr>
            <a:r>
              <a:rPr sz="2700" b="1">
                <a:solidFill>
                  <a:srgbClr val="F4F1E8"/>
                </a:solidFill>
              </a:rPr>
              <a:t>플레이어 액션은 입력 반응성과 캔슬 감각을 우선했습니다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B16A8F-CAC1-4BBF-A139-90C0C1BA1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946"/>
          </a:solidFill>
          <a:ln xmlns:a="http://schemas.openxmlformats.org/drawingml/2006/main" w="0">
            <a:solidFill>
              <a:srgbClr val="34394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9A4E66-EB0F-48A5-BBEC-F793E4E30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09750"/>
            <a:ext cx="6477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4F1E8"/>
                </a:solidFill>
              </a:defRPr>
            </a:pPr>
            <a:r>
              <a:rPr sz="1800" b="0">
                <a:solidFill>
                  <a:srgbClr val="F4F1E8"/>
                </a:solidFill>
              </a:rPr>
              <a:t>- Z: 점프, X: 공격, C: 회피처럼 키 입력을 단순화해 테스트 효율을 높였습니다.</a:t>
            </a:r>
          </a:p>
          <a:p xmlns:a="http://schemas.openxmlformats.org/drawingml/2006/main">
            <a:pPr algn="l">
              <a:defRPr sz="1800" b="0">
                <a:solidFill>
                  <a:srgbClr val="F4F1E8"/>
                </a:solidFill>
              </a:defRPr>
            </a:pPr>
            <a:r>
              <a:rPr sz="1800" b="0">
                <a:solidFill>
                  <a:srgbClr val="F4F1E8"/>
                </a:solidFill>
              </a:rPr>
              <a:t>- 공격 중 공중 이동 배율과 회피 캔슬 여부를 분리해 조작감을 조정할 수 있게 했습니다.</a:t>
            </a:r>
          </a:p>
          <a:p xmlns:a="http://schemas.openxmlformats.org/drawingml/2006/main">
            <a:pPr algn="l">
              <a:defRPr sz="1800" b="0">
                <a:solidFill>
                  <a:srgbClr val="F4F1E8"/>
                </a:solidFill>
              </a:defRPr>
            </a:pPr>
            <a:r>
              <a:rPr sz="1800" b="0">
                <a:solidFill>
                  <a:srgbClr val="F4F1E8"/>
                </a:solidFill>
              </a:rPr>
              <a:t>- 체력과 스태미나는 UI와 저장 데이터 양쪽에 연결해 전투 결과가 다음 흐름에 남도록 했습니다.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2F2BCD-CFB9-4242-A1D0-3188615AE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809750"/>
            <a:ext cx="3238500" cy="1676400"/>
          </a:xfrm>
          <a:prstGeom xmlns:a="http://schemas.openxmlformats.org/drawingml/2006/main" prst="roundRect">
            <a:avLst>
              <a:gd name="adj" fmla="val 2273"/>
            </a:avLst>
          </a:prstGeom>
          <a:solidFill xmlns:a="http://schemas.openxmlformats.org/drawingml/2006/main">
            <a:srgbClr val="171A21"/>
          </a:solidFill>
          <a:ln xmlns:a="http://schemas.openxmlformats.org/drawingml/2006/main" w="9525">
            <a:solidFill>
              <a:srgbClr val="34394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C97A43-1435-419C-9345-CA641C8E6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809750"/>
            <a:ext cx="762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1C47A"/>
          </a:solidFill>
          <a:ln xmlns:a="http://schemas.openxmlformats.org/drawingml/2006/main" w="0">
            <a:solidFill>
              <a:srgbClr val="61C47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D9E3F0-BDF1-4EC1-860D-BC859C038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019300"/>
            <a:ext cx="2781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4F1E8"/>
                </a:solidFill>
              </a:defRPr>
            </a:pPr>
            <a:r>
              <a:rPr sz="1725" b="1">
                <a:solidFill>
                  <a:srgbClr val="F4F1E8"/>
                </a:solidFill>
              </a:rPr>
              <a:t>조작 설계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2EF13C-FF3C-495C-B4DA-036E3CDA8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457450"/>
            <a:ext cx="2781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9B3A5"/>
                </a:solidFill>
              </a:defRPr>
            </a:pPr>
            <a:r>
              <a:rPr sz="1350" b="0">
                <a:solidFill>
                  <a:srgbClr val="B9B3A5"/>
                </a:solidFill>
              </a:rPr>
              <a:t>플레이어가 이해해야 하는 규칙은 줄이고, 실제 전투에서 느끼는 선택지는 남기는 방향으로 구성했습니다.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0395D4-A4C1-49D5-96D8-047EAB67F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867150"/>
            <a:ext cx="3238500" cy="1676400"/>
          </a:xfrm>
          <a:prstGeom xmlns:a="http://schemas.openxmlformats.org/drawingml/2006/main" prst="roundRect">
            <a:avLst>
              <a:gd name="adj" fmla="val 2273"/>
            </a:avLst>
          </a:prstGeom>
          <a:solidFill xmlns:a="http://schemas.openxmlformats.org/drawingml/2006/main">
            <a:srgbClr val="171A21"/>
          </a:solidFill>
          <a:ln xmlns:a="http://schemas.openxmlformats.org/drawingml/2006/main" w="9525">
            <a:solidFill>
              <a:srgbClr val="34394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2812F7-5917-4973-B609-778D5322F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867150"/>
            <a:ext cx="762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6FF"/>
          </a:solidFill>
          <a:ln xmlns:a="http://schemas.openxmlformats.org/drawingml/2006/main" w="0">
            <a:solidFill>
              <a:srgbClr val="6AA6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DF633C-C7FA-4631-9334-48D5F305C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076700"/>
            <a:ext cx="2781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4F1E8"/>
                </a:solidFill>
              </a:defRPr>
            </a:pPr>
            <a:r>
              <a:rPr sz="1725" b="1">
                <a:solidFill>
                  <a:srgbClr val="F4F1E8"/>
                </a:solidFill>
              </a:rPr>
              <a:t>튜닝 포인트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6AEA0C-F7DD-4C77-A59F-7ECDF3619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514850"/>
            <a:ext cx="2781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9B3A5"/>
                </a:solidFill>
              </a:defRPr>
            </a:pPr>
            <a:r>
              <a:rPr sz="1350" b="0">
                <a:solidFill>
                  <a:srgbClr val="B9B3A5"/>
                </a:solidFill>
              </a:rPr>
              <a:t>공격 쿨타임, 콤보 리셋, 회피 지속/쿨타임, 스태미나 회복량은 인스펙터에서 빠르게 조정할 수 있습니다.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8797F5-4EC7-45FE-9C68-0662FF93C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F8792"/>
                </a:solidFill>
              </a:defRPr>
            </a:pPr>
            <a:r>
              <a:rPr sz="975" b="0">
                <a:solidFill>
                  <a:srgbClr val="7F8792"/>
                </a:solidFill>
              </a:rPr>
              <a:t>조성재 | sjjfire123@naver.com | Unity Version Control | 05</a:t>
            </a:r>
          </a:p>
        </p:txBody>
      </p:sp>
    </p:spTree>
    <p:extLst>
      <p:ext uri="{BB962C8B-B14F-4D97-AF65-F5344CB8AC3E}">
        <p14:creationId xmlns:p14="http://schemas.microsoft.com/office/powerpoint/2010/main" val="89356880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113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5C4879-54D1-459D-92F6-2E76DDEAB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0B94D"/>
                </a:solidFill>
              </a:defRPr>
            </a:pPr>
            <a:r>
              <a:rPr sz="1125" b="1">
                <a:solidFill>
                  <a:srgbClr val="F0B94D"/>
                </a:solidFill>
              </a:rPr>
              <a:t>MM_2D_6KProj Portfolio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6EBD5A-4F72-4594-A410-56EB61DCB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4F1E8"/>
                </a:solidFill>
              </a:defRPr>
            </a:pPr>
            <a:r>
              <a:rPr sz="2700" b="1">
                <a:solidFill>
                  <a:srgbClr val="F4F1E8"/>
                </a:solidFill>
              </a:rPr>
              <a:t>보스 3종은 공통 구조 위에 다른 전투 리듬을 얹었습니다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F19B33-244A-41A8-BCCB-125F1EABC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946"/>
          </a:solidFill>
          <a:ln xmlns:a="http://schemas.openxmlformats.org/drawingml/2006/main" w="0">
            <a:solidFill>
              <a:srgbClr val="34394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388D97-342B-4C3A-B33A-9F5149D36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09750"/>
            <a:ext cx="3143250" cy="2667000"/>
          </a:xfrm>
          <a:prstGeom xmlns:a="http://schemas.openxmlformats.org/drawingml/2006/main" prst="roundRect">
            <a:avLst>
              <a:gd name="adj" fmla="val 1429"/>
            </a:avLst>
          </a:prstGeom>
          <a:solidFill xmlns:a="http://schemas.openxmlformats.org/drawingml/2006/main">
            <a:srgbClr val="171A21"/>
          </a:solidFill>
          <a:ln xmlns:a="http://schemas.openxmlformats.org/drawingml/2006/main" w="9525">
            <a:solidFill>
              <a:srgbClr val="34394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4B3EAB-6A6C-49B5-A3DF-23EE97F9D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09750"/>
            <a:ext cx="762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B94D"/>
          </a:solidFill>
          <a:ln xmlns:a="http://schemas.openxmlformats.org/drawingml/2006/main" w="0">
            <a:solidFill>
              <a:srgbClr val="F0B94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6E9C89-CAF1-4AA3-AB72-141CA1E66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019300"/>
            <a:ext cx="2686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4F1E8"/>
                </a:solidFill>
              </a:defRPr>
            </a:pPr>
            <a:r>
              <a:rPr sz="1725" b="1">
                <a:solidFill>
                  <a:srgbClr val="F4F1E8"/>
                </a:solidFill>
              </a:rPr>
              <a:t>Stage 1: Golem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43E8A2-688D-4817-8D78-61C7B6E05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57450"/>
            <a:ext cx="268605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9B3A5"/>
                </a:solidFill>
              </a:defRPr>
            </a:pPr>
            <a:r>
              <a:rPr sz="1350" b="0">
                <a:solidFill>
                  <a:srgbClr val="B9B3A5"/>
                </a:solidFill>
              </a:rPr>
              <a:t>패턴 인지와 기본 회피를 확인하는 첫 보스. 공격 전조와 거리 감각을 학습시키는 역할입니다.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2B13F8-B68B-41AF-B315-BF84F7E61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809750"/>
            <a:ext cx="3143250" cy="2667000"/>
          </a:xfrm>
          <a:prstGeom xmlns:a="http://schemas.openxmlformats.org/drawingml/2006/main" prst="roundRect">
            <a:avLst>
              <a:gd name="adj" fmla="val 1429"/>
            </a:avLst>
          </a:prstGeom>
          <a:solidFill xmlns:a="http://schemas.openxmlformats.org/drawingml/2006/main">
            <a:srgbClr val="171A21"/>
          </a:solidFill>
          <a:ln xmlns:a="http://schemas.openxmlformats.org/drawingml/2006/main" w="9525">
            <a:solidFill>
              <a:srgbClr val="34394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C9C55E-AB5E-41EE-BD2E-F600A4CDE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809750"/>
            <a:ext cx="762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5B4F"/>
          </a:solidFill>
          <a:ln xmlns:a="http://schemas.openxmlformats.org/drawingml/2006/main" w="0">
            <a:solidFill>
              <a:srgbClr val="E45B4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1AE951-01E9-4D27-8C20-103AFF573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019300"/>
            <a:ext cx="2686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4F1E8"/>
                </a:solidFill>
              </a:defRPr>
            </a:pPr>
            <a:r>
              <a:rPr sz="1725" b="1">
                <a:solidFill>
                  <a:srgbClr val="F4F1E8"/>
                </a:solidFill>
              </a:rPr>
              <a:t>Stage 2: Blood King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3B2B7D-F219-44B4-9E61-6E4840756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457450"/>
            <a:ext cx="268605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9B3A5"/>
                </a:solidFill>
              </a:defRPr>
            </a:pPr>
            <a:r>
              <a:rPr sz="1350" b="0">
                <a:solidFill>
                  <a:srgbClr val="B9B3A5"/>
                </a:solidFill>
              </a:rPr>
              <a:t>압박감과 패턴 변화가 중심인 중반 보스. 피격 리스크와 공격 타이밍 판단을 요구합니다.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695384-1D90-435A-9C7D-FE556E955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809750"/>
            <a:ext cx="3143250" cy="2667000"/>
          </a:xfrm>
          <a:prstGeom xmlns:a="http://schemas.openxmlformats.org/drawingml/2006/main" prst="roundRect">
            <a:avLst>
              <a:gd name="adj" fmla="val 1429"/>
            </a:avLst>
          </a:prstGeom>
          <a:solidFill xmlns:a="http://schemas.openxmlformats.org/drawingml/2006/main">
            <a:srgbClr val="171A21"/>
          </a:solidFill>
          <a:ln xmlns:a="http://schemas.openxmlformats.org/drawingml/2006/main" w="9525">
            <a:solidFill>
              <a:srgbClr val="34394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7D8ADF-BEEA-44B7-A4FC-9106E381B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809750"/>
            <a:ext cx="762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1C47A"/>
          </a:solidFill>
          <a:ln xmlns:a="http://schemas.openxmlformats.org/drawingml/2006/main" w="0">
            <a:solidFill>
              <a:srgbClr val="61C47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86974A-38C7-46A2-9EEB-A9EB203AC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019300"/>
            <a:ext cx="2686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4F1E8"/>
                </a:solidFill>
              </a:defRPr>
            </a:pPr>
            <a:r>
              <a:rPr sz="1725" b="1">
                <a:solidFill>
                  <a:srgbClr val="F4F1E8"/>
                </a:solidFill>
              </a:rPr>
              <a:t>Stage 3: Heart Hoarder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B698CC-E13B-4AD8-B253-3E3959330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457450"/>
            <a:ext cx="268605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9B3A5"/>
                </a:solidFill>
              </a:defRPr>
            </a:pPr>
            <a:r>
              <a:rPr sz="1350" b="0">
                <a:solidFill>
                  <a:srgbClr val="B9B3A5"/>
                </a:solidFill>
              </a:rPr>
              <a:t>최종 스테이지 보스. 앞선 전투에서 익힌 회피/공격/자원 관리를 종합합니다.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E629C4-D84E-4A39-BD47-FCFFE19E9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095875"/>
            <a:ext cx="914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B9B3A5"/>
                </a:solidFill>
              </a:defRPr>
            </a:pPr>
            <a:r>
              <a:rPr sz="1800" b="0">
                <a:solidFill>
                  <a:srgbClr val="B9B3A5"/>
                </a:solidFill>
              </a:rPr>
              <a:t>공통 요소: BossBattleManager, BossIntroUI, 클리어 후 포탈/씬 전환 흐름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9C2C28-915B-4FBA-88A7-E78A1B53F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F8792"/>
                </a:solidFill>
              </a:defRPr>
            </a:pPr>
            <a:r>
              <a:rPr sz="975" b="0">
                <a:solidFill>
                  <a:srgbClr val="7F8792"/>
                </a:solidFill>
              </a:rPr>
              <a:t>조성재 | sjjfire123@naver.com | Unity Version Control | 06</a:t>
            </a:r>
          </a:p>
        </p:txBody>
      </p:sp>
    </p:spTree>
    <p:extLst>
      <p:ext uri="{BB962C8B-B14F-4D97-AF65-F5344CB8AC3E}">
        <p14:creationId xmlns:p14="http://schemas.microsoft.com/office/powerpoint/2010/main" val="30250211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113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2B78F1-DFC0-4D2C-93EB-C2102D1BB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0B94D"/>
                </a:solidFill>
              </a:defRPr>
            </a:pPr>
            <a:r>
              <a:rPr sz="1125" b="1">
                <a:solidFill>
                  <a:srgbClr val="F0B94D"/>
                </a:solidFill>
              </a:rPr>
              <a:t>MM_2D_6KProj Portfolio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C21548-8ACC-4FCF-A653-1812566AA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4F1E8"/>
                </a:solidFill>
              </a:defRPr>
            </a:pPr>
            <a:r>
              <a:rPr sz="2700" b="1">
                <a:solidFill>
                  <a:srgbClr val="F4F1E8"/>
                </a:solidFill>
              </a:rPr>
              <a:t>저장 시스템은 위치 저장에서 상태 저장까지 확장했습니다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E6E58A-519B-4EF1-A47F-F3597F872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946"/>
          </a:solidFill>
          <a:ln xmlns:a="http://schemas.openxmlformats.org/drawingml/2006/main" w="0">
            <a:solidFill>
              <a:srgbClr val="34394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991F61-984F-42B2-AD81-DD31221F9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09750"/>
            <a:ext cx="9906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4F1E8"/>
                </a:solidFill>
              </a:defRPr>
            </a:pPr>
            <a:r>
              <a:rPr sz="1800" b="0">
                <a:solidFill>
                  <a:srgbClr val="F4F1E8"/>
                </a:solidFill>
              </a:rPr>
              <a:t>- 초기 저장: 현재 씬 이름과 플레이어 위치만 PlayerPrefs에 저장</a:t>
            </a:r>
          </a:p>
          <a:p xmlns:a="http://schemas.openxmlformats.org/drawingml/2006/main">
            <a:pPr algn="l">
              <a:defRPr sz="1800" b="0">
                <a:solidFill>
                  <a:srgbClr val="F4F1E8"/>
                </a:solidFill>
              </a:defRPr>
            </a:pPr>
            <a:r>
              <a:rPr sz="1800" b="0">
                <a:solidFill>
                  <a:srgbClr val="F4F1E8"/>
                </a:solidFill>
              </a:rPr>
              <a:t>- 확장 저장: maxHP, currentHP, maxST, damage까지 함께 저장</a:t>
            </a:r>
          </a:p>
          <a:p xmlns:a="http://schemas.openxmlformats.org/drawingml/2006/main">
            <a:pPr algn="l">
              <a:defRPr sz="1800" b="0">
                <a:solidFill>
                  <a:srgbClr val="F4F1E8"/>
                </a:solidFill>
              </a:defRPr>
            </a:pPr>
            <a:r>
              <a:rPr sz="1800" b="0">
                <a:solidFill>
                  <a:srgbClr val="F4F1E8"/>
                </a:solidFill>
              </a:rPr>
              <a:t>- 문제 해결: Main Menu에서 플레이어 참조가 없던 문제를 Save 시점 참조 갱신으로 해결</a:t>
            </a:r>
          </a:p>
          <a:p xmlns:a="http://schemas.openxmlformats.org/drawingml/2006/main">
            <a:pPr algn="l">
              <a:defRPr sz="1800" b="0">
                <a:solidFill>
                  <a:srgbClr val="F4F1E8"/>
                </a:solidFill>
              </a:defRPr>
            </a:pPr>
            <a:r>
              <a:rPr sz="1800" b="0">
                <a:solidFill>
                  <a:srgbClr val="F4F1E8"/>
                </a:solidFill>
              </a:rPr>
              <a:t>- 주의한 점: New Game과 Continue의 데이터 적용 순서를 분리해 새 게임 오염을 막았습니다.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F7B823-FE55-4ED7-9A24-68537615F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67250"/>
            <a:ext cx="9906000" cy="9144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171A21"/>
          </a:solidFill>
          <a:ln xmlns:a="http://schemas.openxmlformats.org/drawingml/2006/main" w="9525">
            <a:solidFill>
              <a:srgbClr val="34394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458752-E5BB-49D8-BB99-0AC4B0A55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67250"/>
            <a:ext cx="762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B94D"/>
          </a:solidFill>
          <a:ln xmlns:a="http://schemas.openxmlformats.org/drawingml/2006/main" w="0">
            <a:solidFill>
              <a:srgbClr val="F0B94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5856BE-2391-4E57-8B9E-E205B46EE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76800"/>
            <a:ext cx="9448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4F1E8"/>
                </a:solidFill>
              </a:defRPr>
            </a:pPr>
            <a:r>
              <a:rPr sz="1725" b="1">
                <a:solidFill>
                  <a:srgbClr val="F4F1E8"/>
                </a:solidFill>
              </a:rPr>
              <a:t>코딩 스타일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AD91AD-B3CF-4286-8DEE-A40F12A36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314950"/>
            <a:ext cx="9448800" cy="7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9B3A5"/>
                </a:solidFill>
              </a:defRPr>
            </a:pPr>
            <a:r>
              <a:rPr sz="1350" b="0">
                <a:solidFill>
                  <a:srgbClr val="B9B3A5"/>
                </a:solidFill>
              </a:rPr>
              <a:t>null 가능성이 있는 참조는 저장 직전에 다시 찾고, 불러오기 함수는 기본값을 반환하게 만들어 실패 시 게임 흐름을 유지했습니다.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6C1D22-903C-4292-9076-9016BC532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F8792"/>
                </a:solidFill>
              </a:defRPr>
            </a:pPr>
            <a:r>
              <a:rPr sz="975" b="0">
                <a:solidFill>
                  <a:srgbClr val="7F8792"/>
                </a:solidFill>
              </a:rPr>
              <a:t>조성재 | sjjfire123@naver.com | Unity Version Control | 07</a:t>
            </a:r>
          </a:p>
        </p:txBody>
      </p:sp>
    </p:spTree>
    <p:extLst>
      <p:ext uri="{BB962C8B-B14F-4D97-AF65-F5344CB8AC3E}">
        <p14:creationId xmlns:p14="http://schemas.microsoft.com/office/powerpoint/2010/main" val="190579959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113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EBAF6D-8231-4564-9D3E-431C72E02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0B94D"/>
                </a:solidFill>
              </a:defRPr>
            </a:pPr>
            <a:r>
              <a:rPr sz="1125" b="1">
                <a:solidFill>
                  <a:srgbClr val="F0B94D"/>
                </a:solidFill>
              </a:rPr>
              <a:t>MM_2D_6KProj Portfolio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B00884-CF52-407A-A815-A9A0FB55D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4F1E8"/>
                </a:solidFill>
              </a:defRPr>
            </a:pPr>
            <a:r>
              <a:rPr sz="2700" b="1">
                <a:solidFill>
                  <a:srgbClr val="F4F1E8"/>
                </a:solidFill>
              </a:rPr>
              <a:t>소스코드 1: SaveManager는 저장 시점에 참조를 다시 확인합니다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70FFC0-E947-4D69-B818-DBF76B45F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946"/>
          </a:solidFill>
          <a:ln xmlns:a="http://schemas.openxmlformats.org/drawingml/2006/main" w="0">
            <a:solidFill>
              <a:srgbClr val="34394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F5E087-D032-4CEA-8C2D-5436F7C55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6705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0B94D"/>
                </a:solidFill>
              </a:defRPr>
            </a:pPr>
            <a:r>
              <a:rPr sz="1800" b="1">
                <a:solidFill>
                  <a:srgbClr val="F0B94D"/>
                </a:solidFill>
              </a:rPr>
              <a:t>Assets/_Project/01_Scripts/Common/SaveManager.cs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EADA46-2B29-4D7A-A737-8134164CC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6705600" cy="3905250"/>
          </a:xfrm>
          <a:prstGeom xmlns:a="http://schemas.openxmlformats.org/drawingml/2006/main" prst="roundRect">
            <a:avLst>
              <a:gd name="adj" fmla="val 976"/>
            </a:avLst>
          </a:prstGeom>
          <a:solidFill xmlns:a="http://schemas.openxmlformats.org/drawingml/2006/main">
            <a:srgbClr val="0B0E14"/>
          </a:solidFill>
          <a:ln xmlns:a="http://schemas.openxmlformats.org/drawingml/2006/main" w="9525">
            <a:solidFill>
              <a:srgbClr val="34394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B89D6F-7B39-4C3B-BC06-852C6547A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05050"/>
            <a:ext cx="62484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8E0EA"/>
                </a:solidFill>
              </a:defRPr>
            </a:pPr>
            <a:r>
              <a:rPr sz="1050" b="0">
                <a:solidFill>
                  <a:srgbClr val="D8E0EA"/>
                </a:solidFill>
              </a:rPr>
              <a:t>private void RefreshReferences()</a:t>
            </a:r>
          </a:p>
          <a:p xmlns:a="http://schemas.openxmlformats.org/drawingml/2006/main">
            <a:pPr algn="l">
              <a:defRPr sz="1050" b="0">
                <a:solidFill>
                  <a:srgbClr val="D8E0EA"/>
                </a:solidFill>
              </a:defRPr>
            </a:pPr>
            <a:r>
              <a:rPr sz="1050" b="0">
                <a:solidFill>
                  <a:srgbClr val="D8E0EA"/>
                </a:solidFill>
              </a:rPr>
              <a:t>{</a:t>
            </a:r>
          </a:p>
          <a:p xmlns:a="http://schemas.openxmlformats.org/drawingml/2006/main">
            <a:pPr algn="l">
              <a:defRPr sz="1050" b="0">
                <a:solidFill>
                  <a:srgbClr val="D8E0EA"/>
                </a:solidFill>
              </a:defRPr>
            </a:pPr>
            <a:r>
              <a:rPr sz="1050" b="0">
                <a:solidFill>
                  <a:srgbClr val="D8E0EA"/>
                </a:solidFill>
              </a:rPr>
              <a:t>    player = FindAnyObjectByType&lt;Player&gt;();</a:t>
            </a:r>
          </a:p>
          <a:p xmlns:a="http://schemas.openxmlformats.org/drawingml/2006/main">
            <a:pPr algn="l">
              <a:defRPr sz="1050" b="0">
                <a:solidFill>
                  <a:srgbClr val="D8E0EA"/>
                </a:solidFill>
              </a:defRPr>
            </a:pPr>
            <a:r>
              <a:rPr sz="1050" b="0">
                <a:solidFill>
                  <a:srgbClr val="D8E0EA"/>
                </a:solidFill>
              </a:rPr>
              <a:t>    playerHealth = FindAnyObjectByType&lt;PlayerHealth&gt;();</a:t>
            </a:r>
          </a:p>
          <a:p xmlns:a="http://schemas.openxmlformats.org/drawingml/2006/main">
            <a:pPr algn="l">
              <a:defRPr sz="1050" b="0">
                <a:solidFill>
                  <a:srgbClr val="D8E0EA"/>
                </a:solidFill>
              </a:defRPr>
            </a:pPr>
            <a:r>
              <a:rPr sz="1050" b="0">
                <a:solidFill>
                  <a:srgbClr val="D8E0EA"/>
                </a:solidFill>
              </a:rP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50" b="0">
                <a:solidFill>
                  <a:srgbClr val="D8E0EA"/>
                </a:solidFill>
              </a:defRPr>
            </a:pPr>
            <a:r>
              <a:rPr sz="1050" b="0">
                <a:solidFill>
                  <a:srgbClr val="D8E0EA"/>
                </a:solidFill>
              </a:rPr>
              <a:t>public void Save(Vector3 playerPosition)</a:t>
            </a:r>
          </a:p>
          <a:p xmlns:a="http://schemas.openxmlformats.org/drawingml/2006/main">
            <a:pPr algn="l">
              <a:defRPr sz="1050" b="0">
                <a:solidFill>
                  <a:srgbClr val="D8E0EA"/>
                </a:solidFill>
              </a:defRPr>
            </a:pPr>
            <a:r>
              <a:rPr sz="1050" b="0">
                <a:solidFill>
                  <a:srgbClr val="D8E0EA"/>
                </a:solidFill>
              </a:rPr>
              <a:t>{</a:t>
            </a:r>
          </a:p>
          <a:p xmlns:a="http://schemas.openxmlformats.org/drawingml/2006/main">
            <a:pPr algn="l">
              <a:defRPr sz="1050" b="0">
                <a:solidFill>
                  <a:srgbClr val="D8E0EA"/>
                </a:solidFill>
              </a:defRPr>
            </a:pPr>
            <a:r>
              <a:rPr sz="1050" b="0">
                <a:solidFill>
                  <a:srgbClr val="D8E0EA"/>
                </a:solidFill>
              </a:rPr>
              <a:t>    RefreshReferences();</a:t>
            </a:r>
          </a:p>
          <a:p xmlns:a="http://schemas.openxmlformats.org/drawingml/2006/main">
            <a:pPr algn="l">
              <a:defRPr sz="1050" b="0">
                <a:solidFill>
                  <a:srgbClr val="D8E0EA"/>
                </a:solidFill>
              </a:defRPr>
            </a:pPr>
            <a:r>
              <a:rPr sz="1050" b="0">
                <a:solidFill>
                  <a:srgbClr val="D8E0EA"/>
                </a:solidFill>
              </a:rPr>
              <a:t>    if (player == null || playerHealth == null)</a:t>
            </a:r>
          </a:p>
          <a:p xmlns:a="http://schemas.openxmlformats.org/drawingml/2006/main">
            <a:pPr algn="l">
              <a:defRPr sz="1050" b="0">
                <a:solidFill>
                  <a:srgbClr val="D8E0EA"/>
                </a:solidFill>
              </a:defRPr>
            </a:pPr>
            <a:r>
              <a:rPr sz="1050" b="0">
                <a:solidFill>
                  <a:srgbClr val="D8E0EA"/>
                </a:solidFill>
              </a:rPr>
              <a:t>    {</a:t>
            </a:r>
          </a:p>
          <a:p xmlns:a="http://schemas.openxmlformats.org/drawingml/2006/main">
            <a:pPr algn="l">
              <a:defRPr sz="1050" b="0">
                <a:solidFill>
                  <a:srgbClr val="D8E0EA"/>
                </a:solidFill>
              </a:defRPr>
            </a:pPr>
            <a:r>
              <a:rPr sz="1050" b="0">
                <a:solidFill>
                  <a:srgbClr val="D8E0EA"/>
                </a:solidFill>
              </a:rPr>
              <a:t>        Debug.LogWarning("Save failed: Player or PlayerHealth not found.");</a:t>
            </a:r>
          </a:p>
          <a:p xmlns:a="http://schemas.openxmlformats.org/drawingml/2006/main">
            <a:pPr algn="l">
              <a:defRPr sz="1050" b="0">
                <a:solidFill>
                  <a:srgbClr val="D8E0EA"/>
                </a:solidFill>
              </a:defRPr>
            </a:pPr>
            <a:r>
              <a:rPr sz="1050" b="0">
                <a:solidFill>
                  <a:srgbClr val="D8E0EA"/>
                </a:solidFill>
              </a:rPr>
              <a:t>        return;</a:t>
            </a:r>
          </a:p>
          <a:p xmlns:a="http://schemas.openxmlformats.org/drawingml/2006/main">
            <a:pPr algn="l">
              <a:defRPr sz="1050" b="0">
                <a:solidFill>
                  <a:srgbClr val="D8E0EA"/>
                </a:solidFill>
              </a:defRPr>
            </a:pPr>
            <a:r>
              <a:rPr sz="1050" b="0">
                <a:solidFill>
                  <a:srgbClr val="D8E0EA"/>
                </a:solidFill>
              </a:rPr>
              <a:t>    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50" b="0">
                <a:solidFill>
                  <a:srgbClr val="D8E0EA"/>
                </a:solidFill>
              </a:defRPr>
            </a:pPr>
            <a:r>
              <a:rPr sz="1050" b="0">
                <a:solidFill>
                  <a:srgbClr val="D8E0EA"/>
                </a:solidFill>
              </a:rPr>
              <a:t>    PlayerPrefs.SetString(SceneKey, SceneManager.GetActiveScene().name);</a:t>
            </a:r>
          </a:p>
          <a:p xmlns:a="http://schemas.openxmlformats.org/drawingml/2006/main">
            <a:pPr algn="l">
              <a:defRPr sz="1050" b="0">
                <a:solidFill>
                  <a:srgbClr val="D8E0EA"/>
                </a:solidFill>
              </a:defRPr>
            </a:pPr>
            <a:r>
              <a:rPr sz="1050" b="0">
                <a:solidFill>
                  <a:srgbClr val="D8E0EA"/>
                </a:solidFill>
              </a:rPr>
              <a:t>    PlayerPrefs.SetFloat(SaveXKey, playerPosition.x);</a:t>
            </a:r>
          </a:p>
          <a:p xmlns:a="http://schemas.openxmlformats.org/drawingml/2006/main">
            <a:pPr algn="l">
              <a:defRPr sz="1050" b="0">
                <a:solidFill>
                  <a:srgbClr val="D8E0EA"/>
                </a:solidFill>
              </a:defRPr>
            </a:pPr>
            <a:r>
              <a:rPr sz="1050" b="0">
                <a:solidFill>
                  <a:srgbClr val="D8E0EA"/>
                </a:solidFill>
              </a:rPr>
              <a:t>    PlayerPrefs.SetInt(SaveMaxHPKey, playerHealth.maxHP);</a:t>
            </a:r>
          </a:p>
          <a:p xmlns:a="http://schemas.openxmlformats.org/drawingml/2006/main">
            <a:pPr algn="l">
              <a:defRPr sz="1050" b="0">
                <a:solidFill>
                  <a:srgbClr val="D8E0EA"/>
                </a:solidFill>
              </a:defRPr>
            </a:pPr>
            <a:r>
              <a:rPr sz="1050" b="0">
                <a:solidFill>
                  <a:srgbClr val="D8E0EA"/>
                </a:solidFill>
              </a:rPr>
              <a:t>    PlayerPrefs.SetInt(SaveCurrentHPKey, playerHealth.currentHP);</a:t>
            </a:r>
          </a:p>
          <a:p xmlns:a="http://schemas.openxmlformats.org/drawingml/2006/main">
            <a:pPr algn="l">
              <a:defRPr sz="1050" b="0">
                <a:solidFill>
                  <a:srgbClr val="D8E0EA"/>
                </a:solidFill>
              </a:defRPr>
            </a:pPr>
            <a:r>
              <a:rPr sz="1050" b="0">
                <a:solidFill>
                  <a:srgbClr val="D8E0EA"/>
                </a:solidFill>
              </a:rPr>
              <a:t>    PlayerPrefs.SetInt(SaveMaxSTKey, player.maxStamina);</a:t>
            </a:r>
          </a:p>
          <a:p xmlns:a="http://schemas.openxmlformats.org/drawingml/2006/main">
            <a:pPr algn="l">
              <a:defRPr sz="1050" b="0">
                <a:solidFill>
                  <a:srgbClr val="D8E0EA"/>
                </a:solidFill>
              </a:defRPr>
            </a:pPr>
            <a:r>
              <a:rPr sz="1050" b="0">
                <a:solidFill>
                  <a:srgbClr val="D8E0EA"/>
                </a:solidFill>
              </a:rPr>
              <a:t>    PlayerPrefs.SetFloat(SaveDMGKey, player.attackDamage);</a:t>
            </a:r>
          </a:p>
          <a:p xmlns:a="http://schemas.openxmlformats.org/drawingml/2006/main">
            <a:pPr algn="l">
              <a:defRPr sz="1050" b="0">
                <a:solidFill>
                  <a:srgbClr val="D8E0EA"/>
                </a:solidFill>
              </a:defRPr>
            </a:pPr>
            <a:r>
              <a:rPr sz="1050" b="0">
                <a:solidFill>
                  <a:srgbClr val="D8E0EA"/>
                </a:solidFill>
              </a:rPr>
              <a:t>    PlayerPrefs.Save();</a:t>
            </a:r>
          </a:p>
          <a:p xmlns:a="http://schemas.openxmlformats.org/drawingml/2006/main">
            <a:pPr algn="l">
              <a:defRPr sz="1050" b="0">
                <a:solidFill>
                  <a:srgbClr val="D8E0EA"/>
                </a:solidFill>
              </a:defRPr>
            </a:pPr>
            <a:r>
              <a:rPr sz="1050" b="0">
                <a:solidFill>
                  <a:srgbClr val="D8E0EA"/>
                </a:solidFill>
              </a:rPr>
              <a:t>}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F200E9-7936-4246-9C97-2461CD61E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133600"/>
            <a:ext cx="3429000" cy="2476500"/>
          </a:xfrm>
          <a:prstGeom xmlns:a="http://schemas.openxmlformats.org/drawingml/2006/main" prst="roundRect">
            <a:avLst>
              <a:gd name="adj" fmla="val 1538"/>
            </a:avLst>
          </a:prstGeom>
          <a:solidFill xmlns:a="http://schemas.openxmlformats.org/drawingml/2006/main">
            <a:srgbClr val="171A21"/>
          </a:solidFill>
          <a:ln xmlns:a="http://schemas.openxmlformats.org/drawingml/2006/main" w="9525">
            <a:solidFill>
              <a:srgbClr val="34394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D8503B-6CAA-49A4-8847-E7845D5FA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133600"/>
            <a:ext cx="762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B94D"/>
          </a:solidFill>
          <a:ln xmlns:a="http://schemas.openxmlformats.org/drawingml/2006/main" w="0">
            <a:solidFill>
              <a:srgbClr val="F0B94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47E750-9D62-4B1B-8E14-02F9A2008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343150"/>
            <a:ext cx="2971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4F1E8"/>
                </a:solidFill>
              </a:defRPr>
            </a:pPr>
            <a:r>
              <a:rPr sz="1725" b="1">
                <a:solidFill>
                  <a:srgbClr val="F4F1E8"/>
                </a:solidFill>
              </a:rPr>
              <a:t>개발 철학 / 코딩 스타일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DB918C-1699-4A7D-8952-3234ABF8D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781300"/>
            <a:ext cx="29718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9B3A5"/>
                </a:solidFill>
              </a:defRPr>
            </a:pPr>
            <a:r>
              <a:rPr sz="1350" b="0">
                <a:solidFill>
                  <a:srgbClr val="B9B3A5"/>
                </a:solidFill>
              </a:rPr>
              <a:t>메뉴 씬처럼 Player가 없는 상태에서 Awake 참조를 고정하면 저장이 실패할 수 있었습니다. 그래서 Save 호출 순간에 실제 씬 오브젝트를 다시 찾고, 실패 시 경고 후 return하는 방어적 흐름으로 정리했습니다.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06B625-7C21-4BE3-81F5-CABD226A3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876800"/>
            <a:ext cx="342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F8792"/>
                </a:solidFill>
              </a:defRPr>
            </a:pPr>
            <a:r>
              <a:rPr sz="1350" b="0">
                <a:solidFill>
                  <a:srgbClr val="7F8792"/>
                </a:solidFill>
              </a:rPr>
              <a:t>실제 프로젝트 소스 일부를 발췌했습니다.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8C2E6B-DCC6-435C-B28C-02C8DBE3E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F8792"/>
                </a:solidFill>
              </a:defRPr>
            </a:pPr>
            <a:r>
              <a:rPr sz="975" b="0">
                <a:solidFill>
                  <a:srgbClr val="7F8792"/>
                </a:solidFill>
              </a:rPr>
              <a:t>조성재 | sjjfire123@naver.com | Unity Version Control | 08</a:t>
            </a:r>
          </a:p>
        </p:txBody>
      </p:sp>
    </p:spTree>
    <p:extLst>
      <p:ext uri="{BB962C8B-B14F-4D97-AF65-F5344CB8AC3E}">
        <p14:creationId xmlns:p14="http://schemas.microsoft.com/office/powerpoint/2010/main" val="53582028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113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B9F503-24A5-43BE-A2C2-E7159C072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0B94D"/>
                </a:solidFill>
              </a:defRPr>
            </a:pPr>
            <a:r>
              <a:rPr sz="1125" b="1">
                <a:solidFill>
                  <a:srgbClr val="F0B94D"/>
                </a:solidFill>
              </a:rPr>
              <a:t>MM_2D_6KProj Portfolio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765B2B-97C1-4D01-AF14-0782592D0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4F1E8"/>
                </a:solidFill>
              </a:defRPr>
            </a:pPr>
            <a:r>
              <a:rPr sz="2700" b="1">
                <a:solidFill>
                  <a:srgbClr val="F4F1E8"/>
                </a:solidFill>
              </a:rPr>
              <a:t>소스코드 2: 씬 전환 중 유지할 데이터는 RuntimeData로 분리했습니다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6F9DBD-FE82-4CFB-B46D-BD945BEFC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946"/>
          </a:solidFill>
          <a:ln xmlns:a="http://schemas.openxmlformats.org/drawingml/2006/main" w="0">
            <a:solidFill>
              <a:srgbClr val="34394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D7BE57-AB0F-4478-AADD-797FFDF5B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6705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0B94D"/>
                </a:solidFill>
              </a:defRPr>
            </a:pPr>
            <a:r>
              <a:rPr sz="1800" b="1">
                <a:solidFill>
                  <a:srgbClr val="F0B94D"/>
                </a:solidFill>
              </a:rPr>
              <a:t>Assets/_Project/01_Scripts/Common/PlayerRuntimeData.cs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FB78CD-D130-4466-931C-89336D2A1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6705600" cy="3905250"/>
          </a:xfrm>
          <a:prstGeom xmlns:a="http://schemas.openxmlformats.org/drawingml/2006/main" prst="roundRect">
            <a:avLst>
              <a:gd name="adj" fmla="val 976"/>
            </a:avLst>
          </a:prstGeom>
          <a:solidFill xmlns:a="http://schemas.openxmlformats.org/drawingml/2006/main">
            <a:srgbClr val="0B0E14"/>
          </a:solidFill>
          <a:ln xmlns:a="http://schemas.openxmlformats.org/drawingml/2006/main" w="9525">
            <a:solidFill>
              <a:srgbClr val="34394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6075C8-D73B-4C16-8898-CDA034EE6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05050"/>
            <a:ext cx="62484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8E0EA"/>
                </a:solidFill>
              </a:defRPr>
            </a:pPr>
            <a:r>
              <a:rPr sz="1050" b="0">
                <a:solidFill>
                  <a:srgbClr val="D8E0EA"/>
                </a:solidFill>
              </a:rPr>
              <a:t>public class PlayerRuntimeData : MonoBehaviour</a:t>
            </a:r>
          </a:p>
          <a:p xmlns:a="http://schemas.openxmlformats.org/drawingml/2006/main">
            <a:pPr algn="l">
              <a:defRPr sz="1050" b="0">
                <a:solidFill>
                  <a:srgbClr val="D8E0EA"/>
                </a:solidFill>
              </a:defRPr>
            </a:pPr>
            <a:r>
              <a:rPr sz="1050" b="0">
                <a:solidFill>
                  <a:srgbClr val="D8E0EA"/>
                </a:solidFill>
              </a:rPr>
              <a:t>{</a:t>
            </a:r>
          </a:p>
          <a:p xmlns:a="http://schemas.openxmlformats.org/drawingml/2006/main">
            <a:pPr algn="l">
              <a:defRPr sz="1050" b="0">
                <a:solidFill>
                  <a:srgbClr val="D8E0EA"/>
                </a:solidFill>
              </a:defRPr>
            </a:pPr>
            <a:r>
              <a:rPr sz="1050" b="0">
                <a:solidFill>
                  <a:srgbClr val="D8E0EA"/>
                </a:solidFill>
              </a:rPr>
              <a:t>    public static PlayerRuntimeData Instance { get; private set; }</a:t>
            </a:r>
          </a:p>
          <a:p xmlns:a="http://schemas.openxmlformats.org/drawingml/2006/main">
            <a:pPr algn="l">
              <a:defRPr sz="1050" b="0">
                <a:solidFill>
                  <a:srgbClr val="D8E0EA"/>
                </a:solidFill>
              </a:defRPr>
            </a:pPr>
            <a:r>
              <a:rPr sz="1050" b="0">
                <a:solidFill>
                  <a:srgbClr val="D8E0EA"/>
                </a:solidFill>
              </a:rPr>
              <a:t>    public bool HasData { get; private set; 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50" b="0">
                <a:solidFill>
                  <a:srgbClr val="D8E0EA"/>
                </a:solidFill>
              </a:defRPr>
            </a:pPr>
            <a:r>
              <a:rPr sz="1050" b="0">
                <a:solidFill>
                  <a:srgbClr val="D8E0EA"/>
                </a:solidFill>
              </a:rPr>
              <a:t>    public int maxHP, currentHP;</a:t>
            </a:r>
          </a:p>
          <a:p xmlns:a="http://schemas.openxmlformats.org/drawingml/2006/main">
            <a:pPr algn="l">
              <a:defRPr sz="1050" b="0">
                <a:solidFill>
                  <a:srgbClr val="D8E0EA"/>
                </a:solidFill>
              </a:defRPr>
            </a:pPr>
            <a:r>
              <a:rPr sz="1050" b="0">
                <a:solidFill>
                  <a:srgbClr val="D8E0EA"/>
                </a:solidFill>
              </a:rPr>
              <a:t>    public int maxStamina, currentStamina;</a:t>
            </a:r>
          </a:p>
          <a:p xmlns:a="http://schemas.openxmlformats.org/drawingml/2006/main">
            <a:pPr algn="l">
              <a:defRPr sz="1050" b="0">
                <a:solidFill>
                  <a:srgbClr val="D8E0EA"/>
                </a:solidFill>
              </a:defRPr>
            </a:pPr>
            <a:r>
              <a:rPr sz="1050" b="0">
                <a:solidFill>
                  <a:srgbClr val="D8E0EA"/>
                </a:solidFill>
              </a:rPr>
              <a:t>    public float attackDamage;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50" b="0">
                <a:solidFill>
                  <a:srgbClr val="D8E0EA"/>
                </a:solidFill>
              </a:defRPr>
            </a:pPr>
            <a:r>
              <a:rPr sz="1050" b="0">
                <a:solidFill>
                  <a:srgbClr val="D8E0EA"/>
                </a:solidFill>
              </a:rPr>
              <a:t>    public void SaveFromPlayer(Player player, PlayerHealth health)</a:t>
            </a:r>
          </a:p>
          <a:p xmlns:a="http://schemas.openxmlformats.org/drawingml/2006/main">
            <a:pPr algn="l">
              <a:defRPr sz="1050" b="0">
                <a:solidFill>
                  <a:srgbClr val="D8E0EA"/>
                </a:solidFill>
              </a:defRPr>
            </a:pPr>
            <a:r>
              <a:rPr sz="1050" b="0">
                <a:solidFill>
                  <a:srgbClr val="D8E0EA"/>
                </a:solidFill>
              </a:rPr>
              <a:t>    {</a:t>
            </a:r>
          </a:p>
          <a:p xmlns:a="http://schemas.openxmlformats.org/drawingml/2006/main">
            <a:pPr algn="l">
              <a:defRPr sz="1050" b="0">
                <a:solidFill>
                  <a:srgbClr val="D8E0EA"/>
                </a:solidFill>
              </a:defRPr>
            </a:pPr>
            <a:r>
              <a:rPr sz="1050" b="0">
                <a:solidFill>
                  <a:srgbClr val="D8E0EA"/>
                </a:solidFill>
              </a:rPr>
              <a:t>        if (player == null || health == null) return;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50" b="0">
                <a:solidFill>
                  <a:srgbClr val="D8E0EA"/>
                </a:solidFill>
              </a:defRPr>
            </a:pPr>
            <a:r>
              <a:rPr sz="1050" b="0">
                <a:solidFill>
                  <a:srgbClr val="D8E0EA"/>
                </a:solidFill>
              </a:rPr>
              <a:t>        maxHP = health.MaxHP;</a:t>
            </a:r>
          </a:p>
          <a:p xmlns:a="http://schemas.openxmlformats.org/drawingml/2006/main">
            <a:pPr algn="l">
              <a:defRPr sz="1050" b="0">
                <a:solidFill>
                  <a:srgbClr val="D8E0EA"/>
                </a:solidFill>
              </a:defRPr>
            </a:pPr>
            <a:r>
              <a:rPr sz="1050" b="0">
                <a:solidFill>
                  <a:srgbClr val="D8E0EA"/>
                </a:solidFill>
              </a:rPr>
              <a:t>        currentHP = health.CurrentHP;</a:t>
            </a:r>
          </a:p>
          <a:p xmlns:a="http://schemas.openxmlformats.org/drawingml/2006/main">
            <a:pPr algn="l">
              <a:defRPr sz="1050" b="0">
                <a:solidFill>
                  <a:srgbClr val="D8E0EA"/>
                </a:solidFill>
              </a:defRPr>
            </a:pPr>
            <a:r>
              <a:rPr sz="1050" b="0">
                <a:solidFill>
                  <a:srgbClr val="D8E0EA"/>
                </a:solidFill>
              </a:rPr>
              <a:t>        maxStamina = player.MaxStaminaInt;</a:t>
            </a:r>
          </a:p>
          <a:p xmlns:a="http://schemas.openxmlformats.org/drawingml/2006/main">
            <a:pPr algn="l">
              <a:defRPr sz="1050" b="0">
                <a:solidFill>
                  <a:srgbClr val="D8E0EA"/>
                </a:solidFill>
              </a:defRPr>
            </a:pPr>
            <a:r>
              <a:rPr sz="1050" b="0">
                <a:solidFill>
                  <a:srgbClr val="D8E0EA"/>
                </a:solidFill>
              </a:rPr>
              <a:t>        currentStamina = player.CurrentStaminaInt;</a:t>
            </a:r>
          </a:p>
          <a:p xmlns:a="http://schemas.openxmlformats.org/drawingml/2006/main">
            <a:pPr algn="l">
              <a:defRPr sz="1050" b="0">
                <a:solidFill>
                  <a:srgbClr val="D8E0EA"/>
                </a:solidFill>
              </a:defRPr>
            </a:pPr>
            <a:r>
              <a:rPr sz="1050" b="0">
                <a:solidFill>
                  <a:srgbClr val="D8E0EA"/>
                </a:solidFill>
              </a:rPr>
              <a:t>        attackDamage = player.attackDamage;</a:t>
            </a:r>
          </a:p>
          <a:p xmlns:a="http://schemas.openxmlformats.org/drawingml/2006/main">
            <a:pPr algn="l">
              <a:defRPr sz="1050" b="0">
                <a:solidFill>
                  <a:srgbClr val="D8E0EA"/>
                </a:solidFill>
              </a:defRPr>
            </a:pPr>
            <a:r>
              <a:rPr sz="1050" b="0">
                <a:solidFill>
                  <a:srgbClr val="D8E0EA"/>
                </a:solidFill>
              </a:rPr>
              <a:t>        HasData = true;</a:t>
            </a:r>
          </a:p>
          <a:p xmlns:a="http://schemas.openxmlformats.org/drawingml/2006/main">
            <a:pPr algn="l">
              <a:defRPr sz="1050" b="0">
                <a:solidFill>
                  <a:srgbClr val="D8E0EA"/>
                </a:solidFill>
              </a:defRPr>
            </a:pPr>
            <a:r>
              <a:rPr sz="1050" b="0">
                <a:solidFill>
                  <a:srgbClr val="D8E0EA"/>
                </a:solidFill>
              </a:rPr>
              <a:t>    }</a:t>
            </a:r>
          </a:p>
          <a:p xmlns:a="http://schemas.openxmlformats.org/drawingml/2006/main">
            <a:pPr algn="l">
              <a:defRPr sz="1050" b="0">
                <a:solidFill>
                  <a:srgbClr val="D8E0EA"/>
                </a:solidFill>
              </a:defRPr>
            </a:pPr>
            <a:r>
              <a:rPr sz="1050" b="0">
                <a:solidFill>
                  <a:srgbClr val="D8E0EA"/>
                </a:solidFill>
              </a:rPr>
              <a:t>}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98366A-B9EF-4DA2-9755-959256180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133600"/>
            <a:ext cx="3429000" cy="2476500"/>
          </a:xfrm>
          <a:prstGeom xmlns:a="http://schemas.openxmlformats.org/drawingml/2006/main" prst="roundRect">
            <a:avLst>
              <a:gd name="adj" fmla="val 1538"/>
            </a:avLst>
          </a:prstGeom>
          <a:solidFill xmlns:a="http://schemas.openxmlformats.org/drawingml/2006/main">
            <a:srgbClr val="171A21"/>
          </a:solidFill>
          <a:ln xmlns:a="http://schemas.openxmlformats.org/drawingml/2006/main" w="9525">
            <a:solidFill>
              <a:srgbClr val="34394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9C75C4-0EB0-4CAB-A432-952D3CC6A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133600"/>
            <a:ext cx="762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B94D"/>
          </a:solidFill>
          <a:ln xmlns:a="http://schemas.openxmlformats.org/drawingml/2006/main" w="0">
            <a:solidFill>
              <a:srgbClr val="F0B94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4755A3-C3A4-4A15-96D8-CD4890425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343150"/>
            <a:ext cx="2971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4F1E8"/>
                </a:solidFill>
              </a:defRPr>
            </a:pPr>
            <a:r>
              <a:rPr sz="1725" b="1">
                <a:solidFill>
                  <a:srgbClr val="F4F1E8"/>
                </a:solidFill>
              </a:rPr>
              <a:t>개발 철학 / 코딩 스타일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2E6582-006C-42FB-B2E7-DDA715C44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781300"/>
            <a:ext cx="29718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9B3A5"/>
                </a:solidFill>
              </a:defRPr>
            </a:pPr>
            <a:r>
              <a:rPr sz="1350" b="0">
                <a:solidFill>
                  <a:srgbClr val="B9B3A5"/>
                </a:solidFill>
              </a:rPr>
              <a:t>영구 저장과 씬 전환용 임시 상태를 섞지 않도록 역할을 나눴습니다. 저장 파일은 Continue용, RuntimeData는 Stage1-&gt;2-&gt;3 진행 중 능력치 유지용으로 사용했습니다.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115B1A-04F9-427A-9375-1268B9268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876800"/>
            <a:ext cx="342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F8792"/>
                </a:solidFill>
              </a:defRPr>
            </a:pPr>
            <a:r>
              <a:rPr sz="1350" b="0">
                <a:solidFill>
                  <a:srgbClr val="7F8792"/>
                </a:solidFill>
              </a:rPr>
              <a:t>실제 프로젝트 소스 일부를 발췌했습니다.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3A7CC9-E208-41B1-BC0B-1A394E269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F8792"/>
                </a:solidFill>
              </a:defRPr>
            </a:pPr>
            <a:r>
              <a:rPr sz="975" b="0">
                <a:solidFill>
                  <a:srgbClr val="7F8792"/>
                </a:solidFill>
              </a:rPr>
              <a:t>조성재 | sjjfire123@naver.com | Unity Version Control | 09</a:t>
            </a:r>
          </a:p>
        </p:txBody>
      </p:sp>
    </p:spTree>
    <p:extLst>
      <p:ext uri="{BB962C8B-B14F-4D97-AF65-F5344CB8AC3E}">
        <p14:creationId xmlns:p14="http://schemas.microsoft.com/office/powerpoint/2010/main" val="152021591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113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C842C4-09FD-473E-895A-B9186A63E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0B94D"/>
                </a:solidFill>
              </a:defRPr>
            </a:pPr>
            <a:r>
              <a:rPr sz="1125" b="1">
                <a:solidFill>
                  <a:srgbClr val="F0B94D"/>
                </a:solidFill>
              </a:rPr>
              <a:t>MM_2D_6KProj Portfolio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C7B290-A0AC-4896-9834-903F6F945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4F1E8"/>
                </a:solidFill>
              </a:defRPr>
            </a:pPr>
            <a:r>
              <a:rPr sz="2700" b="1">
                <a:solidFill>
                  <a:srgbClr val="F4F1E8"/>
                </a:solidFill>
              </a:rPr>
              <a:t>소스코드 3: 적 AI는 판단, 이동, 공격 책임을 나눴습니다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66F56F-D573-42E5-A791-96A9D6956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946"/>
          </a:solidFill>
          <a:ln xmlns:a="http://schemas.openxmlformats.org/drawingml/2006/main" w="0">
            <a:solidFill>
              <a:srgbClr val="34394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9F6180-CBE0-4F17-B33B-5DD50A64D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6705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0B94D"/>
                </a:solidFill>
              </a:defRPr>
            </a:pPr>
            <a:r>
              <a:rPr sz="1800" b="1">
                <a:solidFill>
                  <a:srgbClr val="F0B94D"/>
                </a:solidFill>
              </a:rPr>
              <a:t>Assets/_Project/01_Scripts/Enemies/EnemyCore.cs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03E345-74E5-40C4-9446-EC8D5524C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6705600" cy="3905250"/>
          </a:xfrm>
          <a:prstGeom xmlns:a="http://schemas.openxmlformats.org/drawingml/2006/main" prst="roundRect">
            <a:avLst>
              <a:gd name="adj" fmla="val 976"/>
            </a:avLst>
          </a:prstGeom>
          <a:solidFill xmlns:a="http://schemas.openxmlformats.org/drawingml/2006/main">
            <a:srgbClr val="0B0E14"/>
          </a:solidFill>
          <a:ln xmlns:a="http://schemas.openxmlformats.org/drawingml/2006/main" w="9525">
            <a:solidFill>
              <a:srgbClr val="34394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17A496-86D5-464A-84E6-389810DC9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05050"/>
            <a:ext cx="62484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8E0EA"/>
                </a:solidFill>
              </a:defRPr>
            </a:pPr>
            <a:r>
              <a:rPr sz="1050" b="0">
                <a:solidFill>
                  <a:srgbClr val="D8E0EA"/>
                </a:solidFill>
              </a:rPr>
              <a:t>public interface IEnemyBrain</a:t>
            </a:r>
          </a:p>
          <a:p xmlns:a="http://schemas.openxmlformats.org/drawingml/2006/main">
            <a:pPr algn="l">
              <a:defRPr sz="1050" b="0">
                <a:solidFill>
                  <a:srgbClr val="D8E0EA"/>
                </a:solidFill>
              </a:defRPr>
            </a:pPr>
            <a:r>
              <a:rPr sz="1050" b="0">
                <a:solidFill>
                  <a:srgbClr val="D8E0EA"/>
                </a:solidFill>
              </a:rPr>
              <a:t>{</a:t>
            </a:r>
          </a:p>
          <a:p xmlns:a="http://schemas.openxmlformats.org/drawingml/2006/main">
            <a:pPr algn="l">
              <a:defRPr sz="1050" b="0">
                <a:solidFill>
                  <a:srgbClr val="D8E0EA"/>
                </a:solidFill>
              </a:defRPr>
            </a:pPr>
            <a:r>
              <a:rPr sz="1050" b="0">
                <a:solidFill>
                  <a:srgbClr val="D8E0EA"/>
                </a:solidFill>
              </a:rPr>
              <a:t>    void Tick(EnemyCore core, float dt);</a:t>
            </a:r>
          </a:p>
          <a:p xmlns:a="http://schemas.openxmlformats.org/drawingml/2006/main">
            <a:pPr algn="l">
              <a:defRPr sz="1050" b="0">
                <a:solidFill>
                  <a:srgbClr val="D8E0EA"/>
                </a:solidFill>
              </a:defRPr>
            </a:pPr>
            <a:r>
              <a:rPr sz="1050" b="0">
                <a:solidFill>
                  <a:srgbClr val="D8E0EA"/>
                </a:solidFill>
              </a:rP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50" b="0">
                <a:solidFill>
                  <a:srgbClr val="D8E0EA"/>
                </a:solidFill>
              </a:defRPr>
            </a:pPr>
            <a:r>
              <a:rPr sz="1050" b="0">
                <a:solidFill>
                  <a:srgbClr val="D8E0EA"/>
                </a:solidFill>
              </a:rPr>
              <a:t>public class EnemyCore : MonoBehaviour</a:t>
            </a:r>
          </a:p>
          <a:p xmlns:a="http://schemas.openxmlformats.org/drawingml/2006/main">
            <a:pPr algn="l">
              <a:defRPr sz="1050" b="0">
                <a:solidFill>
                  <a:srgbClr val="D8E0EA"/>
                </a:solidFill>
              </a:defRPr>
            </a:pPr>
            <a:r>
              <a:rPr sz="1050" b="0">
                <a:solidFill>
                  <a:srgbClr val="D8E0EA"/>
                </a:solidFill>
              </a:rPr>
              <a:t>{</a:t>
            </a:r>
          </a:p>
          <a:p xmlns:a="http://schemas.openxmlformats.org/drawingml/2006/main">
            <a:pPr algn="l">
              <a:defRPr sz="1050" b="0">
                <a:solidFill>
                  <a:srgbClr val="D8E0EA"/>
                </a:solidFill>
              </a:defRPr>
            </a:pPr>
            <a:r>
              <a:rPr sz="1050" b="0">
                <a:solidFill>
                  <a:srgbClr val="D8E0EA"/>
                </a:solidFill>
              </a:rPr>
              <a:t>    private void Awake()</a:t>
            </a:r>
          </a:p>
          <a:p xmlns:a="http://schemas.openxmlformats.org/drawingml/2006/main">
            <a:pPr algn="l">
              <a:defRPr sz="1050" b="0">
                <a:solidFill>
                  <a:srgbClr val="D8E0EA"/>
                </a:solidFill>
              </a:defRPr>
            </a:pPr>
            <a:r>
              <a:rPr sz="1050" b="0">
                <a:solidFill>
                  <a:srgbClr val="D8E0EA"/>
                </a:solidFill>
              </a:rPr>
              <a:t>    {</a:t>
            </a:r>
          </a:p>
          <a:p xmlns:a="http://schemas.openxmlformats.org/drawingml/2006/main">
            <a:pPr algn="l">
              <a:defRPr sz="1050" b="0">
                <a:solidFill>
                  <a:srgbClr val="D8E0EA"/>
                </a:solidFill>
              </a:defRPr>
            </a:pPr>
            <a:r>
              <a:rPr sz="1050" b="0">
                <a:solidFill>
                  <a:srgbClr val="D8E0EA"/>
                </a:solidFill>
              </a:rPr>
              <a:t>        Brain = GetComponent&lt;IEnemyBrain&gt;();</a:t>
            </a:r>
          </a:p>
          <a:p xmlns:a="http://schemas.openxmlformats.org/drawingml/2006/main">
            <a:pPr algn="l">
              <a:defRPr sz="1050" b="0">
                <a:solidFill>
                  <a:srgbClr val="D8E0EA"/>
                </a:solidFill>
              </a:defRPr>
            </a:pPr>
            <a:r>
              <a:rPr sz="1050" b="0">
                <a:solidFill>
                  <a:srgbClr val="D8E0EA"/>
                </a:solidFill>
              </a:rPr>
              <a:t>        Movement = GetComponent&lt;IEnemyMovement&gt;();</a:t>
            </a:r>
          </a:p>
          <a:p xmlns:a="http://schemas.openxmlformats.org/drawingml/2006/main">
            <a:pPr algn="l">
              <a:defRPr sz="1050" b="0">
                <a:solidFill>
                  <a:srgbClr val="D8E0EA"/>
                </a:solidFill>
              </a:defRPr>
            </a:pPr>
            <a:r>
              <a:rPr sz="1050" b="0">
                <a:solidFill>
                  <a:srgbClr val="D8E0EA"/>
                </a:solidFill>
              </a:rPr>
              <a:t>        Attack = GetComponent&lt;IEnemyAttack&gt;();</a:t>
            </a:r>
          </a:p>
          <a:p xmlns:a="http://schemas.openxmlformats.org/drawingml/2006/main">
            <a:pPr algn="l">
              <a:defRPr sz="1050" b="0">
                <a:solidFill>
                  <a:srgbClr val="D8E0EA"/>
                </a:solidFill>
              </a:defRPr>
            </a:pPr>
            <a:r>
              <a:rPr sz="1050" b="0">
                <a:solidFill>
                  <a:srgbClr val="D8E0EA"/>
                </a:solidFill>
              </a:rPr>
              <a:t>    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50" b="0">
                <a:solidFill>
                  <a:srgbClr val="D8E0EA"/>
                </a:solidFill>
              </a:defRPr>
            </a:pPr>
            <a:r>
              <a:rPr sz="1050" b="0">
                <a:solidFill>
                  <a:srgbClr val="D8E0EA"/>
                </a:solidFill>
              </a:rPr>
              <a:t>    private void Update()</a:t>
            </a:r>
          </a:p>
          <a:p xmlns:a="http://schemas.openxmlformats.org/drawingml/2006/main">
            <a:pPr algn="l">
              <a:defRPr sz="1050" b="0">
                <a:solidFill>
                  <a:srgbClr val="D8E0EA"/>
                </a:solidFill>
              </a:defRPr>
            </a:pPr>
            <a:r>
              <a:rPr sz="1050" b="0">
                <a:solidFill>
                  <a:srgbClr val="D8E0EA"/>
                </a:solidFill>
              </a:rPr>
              <a:t>    {</a:t>
            </a:r>
          </a:p>
          <a:p xmlns:a="http://schemas.openxmlformats.org/drawingml/2006/main">
            <a:pPr algn="l">
              <a:defRPr sz="1050" b="0">
                <a:solidFill>
                  <a:srgbClr val="D8E0EA"/>
                </a:solidFill>
              </a:defRPr>
            </a:pPr>
            <a:r>
              <a:rPr sz="1050" b="0">
                <a:solidFill>
                  <a:srgbClr val="D8E0EA"/>
                </a:solidFill>
              </a:rPr>
              <a:t>        float dt = Time.deltaTime;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50" b="0">
                <a:solidFill>
                  <a:srgbClr val="D8E0EA"/>
                </a:solidFill>
              </a:defRPr>
            </a:pPr>
            <a:r>
              <a:rPr sz="1050" b="0">
                <a:solidFill>
                  <a:srgbClr val="D8E0EA"/>
                </a:solidFill>
              </a:rPr>
              <a:t>        Brain.Tick(this, dt);</a:t>
            </a:r>
          </a:p>
          <a:p xmlns:a="http://schemas.openxmlformats.org/drawingml/2006/main">
            <a:pPr algn="l">
              <a:defRPr sz="1050" b="0">
                <a:solidFill>
                  <a:srgbClr val="D8E0EA"/>
                </a:solidFill>
              </a:defRPr>
            </a:pPr>
            <a:r>
              <a:rPr sz="1050" b="0">
                <a:solidFill>
                  <a:srgbClr val="D8E0EA"/>
                </a:solidFill>
              </a:rPr>
              <a:t>        Movement?.Tick(this, dt);</a:t>
            </a:r>
          </a:p>
          <a:p xmlns:a="http://schemas.openxmlformats.org/drawingml/2006/main">
            <a:pPr algn="l">
              <a:defRPr sz="1050" b="0">
                <a:solidFill>
                  <a:srgbClr val="D8E0EA"/>
                </a:solidFill>
              </a:defRPr>
            </a:pPr>
            <a:r>
              <a:rPr sz="1050" b="0">
                <a:solidFill>
                  <a:srgbClr val="D8E0EA"/>
                </a:solidFill>
              </a:rPr>
              <a:t>        Attack?.Tick(this, dt);</a:t>
            </a:r>
          </a:p>
          <a:p xmlns:a="http://schemas.openxmlformats.org/drawingml/2006/main">
            <a:pPr algn="l">
              <a:defRPr sz="1050" b="0">
                <a:solidFill>
                  <a:srgbClr val="D8E0EA"/>
                </a:solidFill>
              </a:defRPr>
            </a:pPr>
            <a:r>
              <a:rPr sz="1050" b="0">
                <a:solidFill>
                  <a:srgbClr val="D8E0EA"/>
                </a:solidFill>
              </a:rPr>
              <a:t>    }</a:t>
            </a:r>
          </a:p>
          <a:p xmlns:a="http://schemas.openxmlformats.org/drawingml/2006/main">
            <a:pPr algn="l">
              <a:defRPr sz="1050" b="0">
                <a:solidFill>
                  <a:srgbClr val="D8E0EA"/>
                </a:solidFill>
              </a:defRPr>
            </a:pPr>
            <a:r>
              <a:rPr sz="1050" b="0">
                <a:solidFill>
                  <a:srgbClr val="D8E0EA"/>
                </a:solidFill>
              </a:rPr>
              <a:t>}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CB3A51-8F3E-499B-9A97-8E9FEC9CD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133600"/>
            <a:ext cx="3429000" cy="2476500"/>
          </a:xfrm>
          <a:prstGeom xmlns:a="http://schemas.openxmlformats.org/drawingml/2006/main" prst="roundRect">
            <a:avLst>
              <a:gd name="adj" fmla="val 1538"/>
            </a:avLst>
          </a:prstGeom>
          <a:solidFill xmlns:a="http://schemas.openxmlformats.org/drawingml/2006/main">
            <a:srgbClr val="171A21"/>
          </a:solidFill>
          <a:ln xmlns:a="http://schemas.openxmlformats.org/drawingml/2006/main" w="9525">
            <a:solidFill>
              <a:srgbClr val="34394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0445DD-A23F-4060-8262-645BB03CE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133600"/>
            <a:ext cx="762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B94D"/>
          </a:solidFill>
          <a:ln xmlns:a="http://schemas.openxmlformats.org/drawingml/2006/main" w="0">
            <a:solidFill>
              <a:srgbClr val="F0B94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BF8DC3-FE33-4D0C-8F20-CDE4EB162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343150"/>
            <a:ext cx="2971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4F1E8"/>
                </a:solidFill>
              </a:defRPr>
            </a:pPr>
            <a:r>
              <a:rPr sz="1725" b="1">
                <a:solidFill>
                  <a:srgbClr val="F4F1E8"/>
                </a:solidFill>
              </a:rPr>
              <a:t>개발 철학 / 코딩 스타일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86EFA3-FDEB-47A6-97FB-E0C27F177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781300"/>
            <a:ext cx="29718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9B3A5"/>
                </a:solidFill>
              </a:defRPr>
            </a:pPr>
            <a:r>
              <a:rPr sz="1350" b="0">
                <a:solidFill>
                  <a:srgbClr val="B9B3A5"/>
                </a:solidFill>
              </a:rPr>
              <a:t>EnemyCore가 모든 행동을 직접 처리하지 않고, Brain/Movement/Attack 컴포넌트를 조합합니다. 새 적을 만들 때 기존 코어를 유지한 채 행동 모듈만 바꿀 수 있는 구조를 의도했습니다.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503053-EA04-4A08-A30C-BB86BC006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876800"/>
            <a:ext cx="342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F8792"/>
                </a:solidFill>
              </a:defRPr>
            </a:pPr>
            <a:r>
              <a:rPr sz="1350" b="0">
                <a:solidFill>
                  <a:srgbClr val="7F8792"/>
                </a:solidFill>
              </a:rPr>
              <a:t>실제 프로젝트 소스 일부를 발췌했습니다.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7C138A-BFD3-4E9E-B42D-A0F55FFD2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F8792"/>
                </a:solidFill>
              </a:defRPr>
            </a:pPr>
            <a:r>
              <a:rPr sz="975" b="0">
                <a:solidFill>
                  <a:srgbClr val="7F8792"/>
                </a:solidFill>
              </a:rPr>
              <a:t>조성재 | sjjfire123@naver.com | Unity Version Control | 10</a:t>
            </a:r>
          </a:p>
        </p:txBody>
      </p:sp>
    </p:spTree>
    <p:extLst>
      <p:ext uri="{BB962C8B-B14F-4D97-AF65-F5344CB8AC3E}">
        <p14:creationId xmlns:p14="http://schemas.microsoft.com/office/powerpoint/2010/main" val="149485778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113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7FE681-C84F-4570-B9F7-C46454C30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0B94D"/>
                </a:solidFill>
              </a:defRPr>
            </a:pPr>
            <a:r>
              <a:rPr sz="1125" b="1">
                <a:solidFill>
                  <a:srgbClr val="F0B94D"/>
                </a:solidFill>
              </a:rPr>
              <a:t>MM_2D_6KProj Portfolio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E251AD-F204-42D4-960C-A5C6D862B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4F1E8"/>
                </a:solidFill>
              </a:defRPr>
            </a:pPr>
            <a:r>
              <a:rPr sz="2700" b="1">
                <a:solidFill>
                  <a:srgbClr val="F4F1E8"/>
                </a:solidFill>
              </a:rPr>
              <a:t>문제 해결 사례는 기능보다 더 강한 포트폴리오 근거입니다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B484DA-9C31-4832-984E-5AC1E8899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946"/>
          </a:solidFill>
          <a:ln xmlns:a="http://schemas.openxmlformats.org/drawingml/2006/main" w="0">
            <a:solidFill>
              <a:srgbClr val="34394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C21227-3E12-437D-BAC2-CB6B6E2F2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09750"/>
            <a:ext cx="3333750" cy="2857500"/>
          </a:xfrm>
          <a:prstGeom xmlns:a="http://schemas.openxmlformats.org/drawingml/2006/main" prst="roundRect">
            <a:avLst>
              <a:gd name="adj" fmla="val 1333"/>
            </a:avLst>
          </a:prstGeom>
          <a:solidFill xmlns:a="http://schemas.openxmlformats.org/drawingml/2006/main">
            <a:srgbClr val="171A21"/>
          </a:solidFill>
          <a:ln xmlns:a="http://schemas.openxmlformats.org/drawingml/2006/main" w="9525">
            <a:solidFill>
              <a:srgbClr val="34394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F062FA-75BA-4C46-A923-6A607EDC1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097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B94D"/>
          </a:solidFill>
          <a:ln xmlns:a="http://schemas.openxmlformats.org/drawingml/2006/main" w="0">
            <a:solidFill>
              <a:srgbClr val="F0B94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3D6215-1305-4439-AE4B-AD7BBFE7B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019300"/>
            <a:ext cx="2876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4F1E8"/>
                </a:solidFill>
              </a:defRPr>
            </a:pPr>
            <a:r>
              <a:rPr sz="1725" b="1">
                <a:solidFill>
                  <a:srgbClr val="F4F1E8"/>
                </a:solidFill>
              </a:rPr>
              <a:t>저장 데이터 적용 순서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8B5147-9E14-4FD3-9A94-17DB60004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57450"/>
            <a:ext cx="2876550" cy="2019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9B3A5"/>
                </a:solidFill>
              </a:defRPr>
            </a:pPr>
            <a:r>
              <a:rPr sz="1350" b="0">
                <a:solidFill>
                  <a:srgbClr val="B9B3A5"/>
                </a:solidFill>
              </a:rPr>
              <a:t>위치 로드가 ContinueMode를 먼저 끄면 HP/ST/DMG가 적용되지 않는 문제가 있었습니다. 런타임 데이터 -&gt; 저장 상태 -&gt; 위치 순서로 정리했습니다.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CF07B4-C2EB-4D8A-8DFF-6363B5D43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809750"/>
            <a:ext cx="3333750" cy="2857500"/>
          </a:xfrm>
          <a:prstGeom xmlns:a="http://schemas.openxmlformats.org/drawingml/2006/main" prst="roundRect">
            <a:avLst>
              <a:gd name="adj" fmla="val 1333"/>
            </a:avLst>
          </a:prstGeom>
          <a:solidFill xmlns:a="http://schemas.openxmlformats.org/drawingml/2006/main">
            <a:srgbClr val="171A21"/>
          </a:solidFill>
          <a:ln xmlns:a="http://schemas.openxmlformats.org/drawingml/2006/main" w="9525">
            <a:solidFill>
              <a:srgbClr val="34394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565AE6-ABAB-4563-845D-1F5B693F2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8097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5B4F"/>
          </a:solidFill>
          <a:ln xmlns:a="http://schemas.openxmlformats.org/drawingml/2006/main" w="0">
            <a:solidFill>
              <a:srgbClr val="E45B4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5FE252-FBEA-4FE4-82B0-DEB7F1C21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019300"/>
            <a:ext cx="2876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4F1E8"/>
                </a:solidFill>
              </a:defRPr>
            </a:pPr>
            <a:r>
              <a:rPr sz="1725" b="1">
                <a:solidFill>
                  <a:srgbClr val="F4F1E8"/>
                </a:solidFill>
              </a:rPr>
              <a:t>Stage 메뉴 패널 미표시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71BED3-050D-42FE-AC87-68DE83B0C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457450"/>
            <a:ext cx="2876550" cy="2019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9B3A5"/>
                </a:solidFill>
              </a:defRPr>
            </a:pPr>
            <a:r>
              <a:rPr sz="1350" b="0">
                <a:solidFill>
                  <a:srgbClr val="B9B3A5"/>
                </a:solidFill>
              </a:rPr>
              <a:t>Stage1/2/3 Canvas scale이 0으로 저장되어 MenuPanel이 활성화돼도 보이지 않았습니다. 씬과 StagePrefab의 Canvas scale을 1로 수정했습니다.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8638B0-B6DF-4DA9-8DAF-1B870A7D4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9750"/>
            <a:ext cx="3333750" cy="2857500"/>
          </a:xfrm>
          <a:prstGeom xmlns:a="http://schemas.openxmlformats.org/drawingml/2006/main" prst="roundRect">
            <a:avLst>
              <a:gd name="adj" fmla="val 1333"/>
            </a:avLst>
          </a:prstGeom>
          <a:solidFill xmlns:a="http://schemas.openxmlformats.org/drawingml/2006/main">
            <a:srgbClr val="171A21"/>
          </a:solidFill>
          <a:ln xmlns:a="http://schemas.openxmlformats.org/drawingml/2006/main" w="9525">
            <a:solidFill>
              <a:srgbClr val="34394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B8965D-1CB0-4225-AA57-32F24880C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97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1C47A"/>
          </a:solidFill>
          <a:ln xmlns:a="http://schemas.openxmlformats.org/drawingml/2006/main" w="0">
            <a:solidFill>
              <a:srgbClr val="61C47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83764D-CCE1-4FAC-AC5A-F81B7C1C6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019300"/>
            <a:ext cx="2876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4F1E8"/>
                </a:solidFill>
              </a:defRPr>
            </a:pPr>
            <a:r>
              <a:rPr sz="1725" b="1">
                <a:solidFill>
                  <a:srgbClr val="F4F1E8"/>
                </a:solidFill>
              </a:rPr>
              <a:t>보스러쉬 전환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CF2496-9E2E-481E-A02A-626D671D5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457450"/>
            <a:ext cx="2876550" cy="2019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9B3A5"/>
                </a:solidFill>
              </a:defRPr>
            </a:pPr>
            <a:r>
              <a:rPr sz="1350" b="0">
                <a:solidFill>
                  <a:srgbClr val="B9B3A5"/>
                </a:solidFill>
              </a:rPr>
              <a:t>완성 가능성을 위해 거대 맵과 스토리 비중을 줄이고, 전투/저장/진행 시스템 검증에 집중했습니다.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EEB4A7-48D5-49C7-A2E6-D336B6F5E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143500"/>
            <a:ext cx="990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B9B3A5"/>
                </a:solidFill>
              </a:defRPr>
            </a:pPr>
            <a:r>
              <a:rPr sz="1650" b="1">
                <a:solidFill>
                  <a:srgbClr val="B9B3A5"/>
                </a:solidFill>
              </a:rPr>
              <a:t>면접에서 강조할 문장: 문제를 발견하면 원인을 씬 데이터, 실행 순서, 참조 생명주기 중 어디에 있는지 나눠서 추적했습니다.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4D6B73-6391-453A-AB66-A831FCA5E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F8792"/>
                </a:solidFill>
              </a:defRPr>
            </a:pPr>
            <a:r>
              <a:rPr sz="975" b="0">
                <a:solidFill>
                  <a:srgbClr val="7F8792"/>
                </a:solidFill>
              </a:rPr>
              <a:t>조성재 | sjjfire123@naver.com | Unity Version Control | 11</a:t>
            </a:r>
          </a:p>
        </p:txBody>
      </p:sp>
    </p:spTree>
    <p:extLst>
      <p:ext uri="{BB962C8B-B14F-4D97-AF65-F5344CB8AC3E}">
        <p14:creationId xmlns:p14="http://schemas.microsoft.com/office/powerpoint/2010/main" val="202313445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113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2DFD42-8F99-4258-8128-96C56F5E8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0B94D"/>
                </a:solidFill>
              </a:defRPr>
            </a:pPr>
            <a:r>
              <a:rPr sz="1125" b="1">
                <a:solidFill>
                  <a:srgbClr val="F0B94D"/>
                </a:solidFill>
              </a:rPr>
              <a:t>MM_2D_6KProj Portfolio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1DDFFF-73AC-4AB8-8536-69FCCEFFE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4F1E8"/>
                </a:solidFill>
              </a:defRPr>
            </a:pPr>
            <a:r>
              <a:rPr sz="2700" b="1">
                <a:solidFill>
                  <a:srgbClr val="F4F1E8"/>
                </a:solidFill>
              </a:rPr>
              <a:t>UI/UX는 플레이 중 흐름이 끊기지 않는 것을 목표로 했습니다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C07872-0293-4717-A8AB-3C18114D0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946"/>
          </a:solidFill>
          <a:ln xmlns:a="http://schemas.openxmlformats.org/drawingml/2006/main" w="0">
            <a:solidFill>
              <a:srgbClr val="34394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13C9F4-9BFB-4C96-B7AB-F29C47C98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09750"/>
            <a:ext cx="9429750" cy="2247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4F1E8"/>
                </a:solidFill>
              </a:defRPr>
            </a:pPr>
            <a:r>
              <a:rPr sz="1800" b="0">
                <a:solidFill>
                  <a:srgbClr val="F4F1E8"/>
                </a:solidFill>
              </a:rPr>
              <a:t>- Pause 메뉴: Escape 입력으로 전투 중 일시정지와 복귀를 처리</a:t>
            </a:r>
          </a:p>
          <a:p xmlns:a="http://schemas.openxmlformats.org/drawingml/2006/main">
            <a:pPr algn="l">
              <a:defRPr sz="1800" b="0">
                <a:solidFill>
                  <a:srgbClr val="F4F1E8"/>
                </a:solidFill>
              </a:defRPr>
            </a:pPr>
            <a:r>
              <a:rPr sz="1800" b="0">
                <a:solidFill>
                  <a:srgbClr val="F4F1E8"/>
                </a:solidFill>
              </a:rPr>
              <a:t>- Game Over: CanvasGroup 기반으로 사망 후 상태 전환을 관리</a:t>
            </a:r>
          </a:p>
          <a:p xmlns:a="http://schemas.openxmlformats.org/drawingml/2006/main">
            <a:pPr algn="l">
              <a:defRPr sz="1800" b="0">
                <a:solidFill>
                  <a:srgbClr val="F4F1E8"/>
                </a:solidFill>
              </a:defRPr>
            </a:pPr>
            <a:r>
              <a:rPr sz="1800" b="0">
                <a:solidFill>
                  <a:srgbClr val="F4F1E8"/>
                </a:solidFill>
              </a:rPr>
              <a:t>- Boss Intro: 보스전 시작 전 짧은 연출로 전투 진입 신호를 제공</a:t>
            </a:r>
          </a:p>
          <a:p xmlns:a="http://schemas.openxmlformats.org/drawingml/2006/main">
            <a:pPr algn="l">
              <a:defRPr sz="1800" b="0">
                <a:solidFill>
                  <a:srgbClr val="F4F1E8"/>
                </a:solidFill>
              </a:defRPr>
            </a:pPr>
            <a:r>
              <a:rPr sz="1800" b="0">
                <a:solidFill>
                  <a:srgbClr val="F4F1E8"/>
                </a:solidFill>
              </a:rPr>
              <a:t>- Pixel Perfect Camera: 320x180 기준, 1920x1080에서 6배 정수 스케일 권장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57232A-7C51-45B1-97D2-E9BA7205C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62500"/>
            <a:ext cx="9429750" cy="8382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171A21"/>
          </a:solidFill>
          <a:ln xmlns:a="http://schemas.openxmlformats.org/drawingml/2006/main" w="9525">
            <a:solidFill>
              <a:srgbClr val="34394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A7CDF0-83F8-4360-8421-F3DE2DEA6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62500"/>
            <a:ext cx="762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6FF"/>
          </a:solidFill>
          <a:ln xmlns:a="http://schemas.openxmlformats.org/drawingml/2006/main" w="0">
            <a:solidFill>
              <a:srgbClr val="6AA6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52D223-0520-48CF-8F84-0FFB04CE1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972050"/>
            <a:ext cx="8972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4F1E8"/>
                </a:solidFill>
              </a:defRPr>
            </a:pPr>
            <a:r>
              <a:rPr sz="1725" b="1">
                <a:solidFill>
                  <a:srgbClr val="F4F1E8"/>
                </a:solidFill>
              </a:rPr>
              <a:t>포트폴리오 포인트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6255D6-E964-4ECD-B00D-8D9259F45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410200"/>
            <a:ext cx="8972550" cy="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9B3A5"/>
                </a:solidFill>
              </a:defRPr>
            </a:pPr>
            <a:r>
              <a:rPr sz="1350" b="0">
                <a:solidFill>
                  <a:srgbClr val="B9B3A5"/>
                </a:solidFill>
              </a:rPr>
              <a:t>화려한 기능보다 플레이어가 길을 잃지 않고 전투에 집중하도록 만드는 기본 UX를 우선했습니다.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BFF3C6-2761-4614-B7E7-E8306DB40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F8792"/>
                </a:solidFill>
              </a:defRPr>
            </a:pPr>
            <a:r>
              <a:rPr sz="975" b="0">
                <a:solidFill>
                  <a:srgbClr val="7F8792"/>
                </a:solidFill>
              </a:rPr>
              <a:t>조성재 | sjjfire123@naver.com | Unity Version Control | 12</a:t>
            </a:r>
          </a:p>
        </p:txBody>
      </p:sp>
    </p:spTree>
    <p:extLst>
      <p:ext uri="{BB962C8B-B14F-4D97-AF65-F5344CB8AC3E}">
        <p14:creationId xmlns:p14="http://schemas.microsoft.com/office/powerpoint/2010/main" val="92092292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1113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3A1BDD5-58CA-4D3F-B444-967A5C58F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0B94D"/>
                </a:solidFill>
              </a:defRPr>
            </a:pPr>
            <a:r>
              <a:rPr sz="1125" b="1">
                <a:solidFill>
                  <a:srgbClr val="F0B94D"/>
                </a:solidFill>
              </a:rPr>
              <a:t>MM_2D_6KProj Portfolio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93FC49-532C-467F-80A2-B909DA2A9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4F1E8"/>
                </a:solidFill>
              </a:defRPr>
            </a:pPr>
            <a:r>
              <a:rPr sz="2700" b="1">
                <a:solidFill>
                  <a:srgbClr val="F4F1E8"/>
                </a:solidFill>
              </a:rPr>
              <a:t>개발 환경과 협업 이력은 GitHub 대신 Unity Version Control로 정리합니다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9CFBD0-9F0A-4488-ADAD-858696561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946"/>
          </a:solidFill>
          <a:ln xmlns:a="http://schemas.openxmlformats.org/drawingml/2006/main" w="0">
            <a:solidFill>
              <a:srgbClr val="34394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74436F-AFF0-4EBE-AAFB-C9A74BFAB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09750"/>
            <a:ext cx="4762500" cy="1143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171A21"/>
          </a:solidFill>
          <a:ln xmlns:a="http://schemas.openxmlformats.org/drawingml/2006/main" w="9525">
            <a:solidFill>
              <a:srgbClr val="34394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4C8BC2-843F-481D-BDA0-9E30EA7C2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09750"/>
            <a:ext cx="762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6FF"/>
          </a:solidFill>
          <a:ln xmlns:a="http://schemas.openxmlformats.org/drawingml/2006/main" w="0">
            <a:solidFill>
              <a:srgbClr val="6AA6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9CCBE4-8B41-41D6-99AF-D1BBEE19D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019300"/>
            <a:ext cx="430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4F1E8"/>
                </a:solidFill>
              </a:defRPr>
            </a:pPr>
            <a:r>
              <a:rPr sz="1725" b="1">
                <a:solidFill>
                  <a:srgbClr val="F4F1E8"/>
                </a:solidFill>
              </a:rPr>
              <a:t>Engine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1F7DA1-A400-4E14-A3F0-372C10851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57450"/>
            <a:ext cx="430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9B3A5"/>
                </a:solidFill>
              </a:defRPr>
            </a:pPr>
            <a:r>
              <a:rPr sz="1350" b="0">
                <a:solidFill>
                  <a:srgbClr val="B9B3A5"/>
                </a:solidFill>
              </a:rPr>
              <a:t>Unity 6000.3.8f1 / URP / 2D Pixel Perfect Camera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D7FCD2-88DC-48CA-93D0-9C612B66E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809750"/>
            <a:ext cx="4762500" cy="1143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171A21"/>
          </a:solidFill>
          <a:ln xmlns:a="http://schemas.openxmlformats.org/drawingml/2006/main" w="9525">
            <a:solidFill>
              <a:srgbClr val="34394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40EE13-6267-40B5-B4D2-5784FDC9E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809750"/>
            <a:ext cx="762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B94D"/>
          </a:solidFill>
          <a:ln xmlns:a="http://schemas.openxmlformats.org/drawingml/2006/main" w="0">
            <a:solidFill>
              <a:srgbClr val="F0B94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6D9FE2-D216-4687-8735-7C99AF9FF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19300"/>
            <a:ext cx="430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4F1E8"/>
                </a:solidFill>
              </a:defRPr>
            </a:pPr>
            <a:r>
              <a:rPr sz="1725" b="1">
                <a:solidFill>
                  <a:srgbClr val="F4F1E8"/>
                </a:solidFill>
              </a:rPr>
              <a:t>Version Control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CE6C77-8C76-47A4-BB8B-4343AC41A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57450"/>
            <a:ext cx="430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9B3A5"/>
                </a:solidFill>
              </a:defRPr>
            </a:pPr>
            <a:r>
              <a:rPr sz="1350" b="0">
                <a:solidFill>
                  <a:srgbClr val="B9B3A5"/>
                </a:solidFill>
              </a:rPr>
              <a:t>Unity Version Control 사용</a:t>
            </a:r>
          </a:p>
          <a:p xmlns:a="http://schemas.openxmlformats.org/drawingml/2006/main">
            <a:pPr algn="l">
              <a:defRPr sz="1350" b="0">
                <a:solidFill>
                  <a:srgbClr val="B9B3A5"/>
                </a:solidFill>
              </a:defRPr>
            </a:pPr>
            <a:r>
              <a:rPr sz="1350" b="0">
                <a:solidFill>
                  <a:srgbClr val="B9B3A5"/>
                </a:solidFill>
              </a:rPr>
              <a:t>GitHub 링크 항목은 비워두거나 삭제해도 됩니다.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BE686C-4BAB-4951-97B2-5DCF9D300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524250"/>
            <a:ext cx="4762500" cy="13335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171A21"/>
          </a:solidFill>
          <a:ln xmlns:a="http://schemas.openxmlformats.org/drawingml/2006/main" w="9525">
            <a:solidFill>
              <a:srgbClr val="34394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1E75C4-63E9-4F99-9467-54ED4BEEF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524250"/>
            <a:ext cx="762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1C47A"/>
          </a:solidFill>
          <a:ln xmlns:a="http://schemas.openxmlformats.org/drawingml/2006/main" w="0">
            <a:solidFill>
              <a:srgbClr val="61C47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E0EBE6-421C-4899-9356-9D2CDBB61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733800"/>
            <a:ext cx="430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4F1E8"/>
                </a:solidFill>
              </a:defRPr>
            </a:pPr>
            <a:r>
              <a:rPr sz="1725" b="1">
                <a:solidFill>
                  <a:srgbClr val="F4F1E8"/>
                </a:solidFill>
              </a:rPr>
              <a:t>Build Target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588FC1-CB26-47FF-AA11-543144B5F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171950"/>
            <a:ext cx="430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9B3A5"/>
                </a:solidFill>
              </a:defRPr>
            </a:pPr>
            <a:r>
              <a:rPr sz="1350" b="0">
                <a:solidFill>
                  <a:srgbClr val="B9B3A5"/>
                </a:solidFill>
              </a:rPr>
              <a:t>Windows 실행 빌드 우선, itch.io 업로드 시 WebGL 빌드도 함께 제공하면 접근성이 좋아집니다.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F23C02-7999-44A0-BF0B-AE634F641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524250"/>
            <a:ext cx="4762500" cy="13335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171A21"/>
          </a:solidFill>
          <a:ln xmlns:a="http://schemas.openxmlformats.org/drawingml/2006/main" w="9525">
            <a:solidFill>
              <a:srgbClr val="34394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A2ABF1-7F90-4DAD-8BBF-E4459E84E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524250"/>
            <a:ext cx="762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5B4F"/>
          </a:solidFill>
          <a:ln xmlns:a="http://schemas.openxmlformats.org/drawingml/2006/main" w="0">
            <a:solidFill>
              <a:srgbClr val="E45B4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64BD96-AAA4-4C47-80F1-D58D07AD5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733800"/>
            <a:ext cx="430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4F1E8"/>
                </a:solidFill>
              </a:defRPr>
            </a:pPr>
            <a:r>
              <a:rPr sz="1725" b="1">
                <a:solidFill>
                  <a:srgbClr val="F4F1E8"/>
                </a:solidFill>
              </a:rPr>
              <a:t>Portfolio Files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357C6B-3BCF-49A7-8341-6F38C79CF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171950"/>
            <a:ext cx="430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9B3A5"/>
                </a:solidFill>
              </a:defRPr>
            </a:pPr>
            <a:r>
              <a:rPr sz="1350" b="0">
                <a:solidFill>
                  <a:srgbClr val="B9B3A5"/>
                </a:solidFill>
              </a:rPr>
              <a:t>제출 파일명과 링크 설명에는 반드시 MM_ 접두사를 붙입니다.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664BDA7-CAF6-4EA9-AF53-1285C0C56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F8792"/>
                </a:solidFill>
              </a:defRPr>
            </a:pPr>
            <a:r>
              <a:rPr sz="975" b="0">
                <a:solidFill>
                  <a:srgbClr val="7F8792"/>
                </a:solidFill>
              </a:rPr>
              <a:t>조성재 | sjjfire123@naver.com | Unity Version Control | 13</a:t>
            </a:r>
          </a:p>
        </p:txBody>
      </p:sp>
    </p:spTree>
    <p:extLst>
      <p:ext uri="{BB962C8B-B14F-4D97-AF65-F5344CB8AC3E}">
        <p14:creationId xmlns:p14="http://schemas.microsoft.com/office/powerpoint/2010/main" val="79141984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1113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3A4783-460D-47EF-97D2-AA7C8D4F3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0B94D"/>
                </a:solidFill>
              </a:defRPr>
            </a:pPr>
            <a:r>
              <a:rPr sz="1125" b="1">
                <a:solidFill>
                  <a:srgbClr val="F0B94D"/>
                </a:solidFill>
              </a:rPr>
              <a:t>MM_2D_6KProj Portfolio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7AB634-17BF-4A79-B232-7AD2DCAE2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4F1E8"/>
                </a:solidFill>
              </a:defRPr>
            </a:pPr>
            <a:r>
              <a:rPr sz="2700" b="1">
                <a:solidFill>
                  <a:srgbClr val="F4F1E8"/>
                </a:solidFill>
              </a:rPr>
              <a:t>제출 링크 설명은 MM_ 접두사를 붙여 관리합니다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A71712-C471-4128-9FB8-F850C9CF5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946"/>
          </a:solidFill>
          <a:ln xmlns:a="http://schemas.openxmlformats.org/drawingml/2006/main" w="0">
            <a:solidFill>
              <a:srgbClr val="34394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0FE570-EA28-4A6B-B0C6-BD14F72C5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85950"/>
            <a:ext cx="10096500" cy="3143250"/>
          </a:xfrm>
          <a:prstGeom xmlns:a="http://schemas.openxmlformats.org/drawingml/2006/main" prst="roundRect">
            <a:avLst>
              <a:gd name="adj" fmla="val 1212"/>
            </a:avLst>
          </a:prstGeom>
          <a:solidFill xmlns:a="http://schemas.openxmlformats.org/drawingml/2006/main">
            <a:srgbClr val="0B0E14"/>
          </a:solidFill>
          <a:ln xmlns:a="http://schemas.openxmlformats.org/drawingml/2006/main" w="9525">
            <a:solidFill>
              <a:srgbClr val="34394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DB7ADC-B65A-4C19-88F3-C30AD57C2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90750"/>
            <a:ext cx="93345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4F1E8"/>
                </a:solidFill>
              </a:defRPr>
            </a:pPr>
            <a:r>
              <a:rPr sz="1725" b="0">
                <a:solidFill>
                  <a:srgbClr val="F4F1E8"/>
                </a:solidFill>
              </a:rPr>
              <a:t>MM_포트폴리오_PPT</a:t>
            </a:r>
          </a:p>
          <a:p xmlns:a="http://schemas.openxmlformats.org/drawingml/2006/main">
            <a:pPr algn="l">
              <a:defRPr sz="1725" b="0">
                <a:solidFill>
                  <a:srgbClr val="F4F1E8"/>
                </a:solidFill>
              </a:defRPr>
            </a:pPr>
            <a:r>
              <a:rPr sz="1725" b="0">
                <a:solidFill>
                  <a:srgbClr val="F4F1E8"/>
                </a:solidFill>
              </a:rPr>
              <a:t>  - 파일: MM_2D_Action_BossRush_Portfolio.pptx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>
                <a:solidFill>
                  <a:srgbClr val="F4F1E8"/>
                </a:solidFill>
              </a:defRPr>
            </a:pPr>
            <a:r>
              <a:rPr sz="1725" b="0">
                <a:solidFill>
                  <a:srgbClr val="F4F1E8"/>
                </a:solidFill>
              </a:rPr>
              <a:t>MM_실행빌드링크</a:t>
            </a:r>
          </a:p>
          <a:p xmlns:a="http://schemas.openxmlformats.org/drawingml/2006/main">
            <a:pPr algn="l">
              <a:defRPr sz="1725" b="0">
                <a:solidFill>
                  <a:srgbClr val="F4F1E8"/>
                </a:solidFill>
              </a:defRPr>
            </a:pPr>
            <a:r>
              <a:rPr sz="1725" b="0">
                <a:solidFill>
                  <a:srgbClr val="F4F1E8"/>
                </a:solidFill>
              </a:rPr>
              <a:t>  - 예: itch.io 또는 Google Drive에 업로드한 Windows ZIP 링크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>
                <a:solidFill>
                  <a:srgbClr val="F4F1E8"/>
                </a:solidFill>
              </a:defRPr>
            </a:pPr>
            <a:r>
              <a:rPr sz="1725" b="0">
                <a:solidFill>
                  <a:srgbClr val="F4F1E8"/>
                </a:solidFill>
              </a:rPr>
              <a:t>MM_플레이영상링크</a:t>
            </a:r>
          </a:p>
          <a:p xmlns:a="http://schemas.openxmlformats.org/drawingml/2006/main">
            <a:pPr algn="l">
              <a:defRPr sz="1725" b="0">
                <a:solidFill>
                  <a:srgbClr val="F4F1E8"/>
                </a:solidFill>
              </a:defRPr>
            </a:pPr>
            <a:r>
              <a:rPr sz="1725" b="0">
                <a:solidFill>
                  <a:srgbClr val="F4F1E8"/>
                </a:solidFill>
              </a:rPr>
              <a:t>  - 예: YouTube 일부 공개 플레이 영상 링크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>
                <a:solidFill>
                  <a:srgbClr val="F4F1E8"/>
                </a:solidFill>
              </a:defRPr>
            </a:pPr>
            <a:r>
              <a:rPr sz="1725" b="0">
                <a:solidFill>
                  <a:srgbClr val="F4F1E8"/>
                </a:solidFill>
              </a:rPr>
              <a:t>MM_UnityVersionControl</a:t>
            </a:r>
          </a:p>
          <a:p xmlns:a="http://schemas.openxmlformats.org/drawingml/2006/main">
            <a:pPr algn="l">
              <a:defRPr sz="1725" b="0">
                <a:solidFill>
                  <a:srgbClr val="F4F1E8"/>
                </a:solidFill>
              </a:defRPr>
            </a:pPr>
            <a:r>
              <a:rPr sz="1725" b="0">
                <a:solidFill>
                  <a:srgbClr val="F4F1E8"/>
                </a:solidFill>
              </a:rPr>
              <a:t>  - GitHub 대신 Unity Version Control을 사용했다고 명시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0DB042-876C-4923-9E1F-3371D1C7D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334000"/>
            <a:ext cx="933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0B94D"/>
                </a:solidFill>
              </a:defRPr>
            </a:pPr>
            <a:r>
              <a:rPr sz="1650" b="1">
                <a:solidFill>
                  <a:srgbClr val="F0B94D"/>
                </a:solidFill>
              </a:rPr>
              <a:t>나중에 URL만 채우면 제출 양식에서도 규칙이 흐트러지지 않습니다.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227DFE-2AA4-4F1F-A37C-AD1F12BCD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F8792"/>
                </a:solidFill>
              </a:defRPr>
            </a:pPr>
            <a:r>
              <a:rPr sz="975" b="0">
                <a:solidFill>
                  <a:srgbClr val="7F8792"/>
                </a:solidFill>
              </a:rPr>
              <a:t>조성재 | sjjfire123@naver.com | Unity Version Control | 14</a:t>
            </a:r>
          </a:p>
        </p:txBody>
      </p:sp>
    </p:spTree>
    <p:extLst>
      <p:ext uri="{BB962C8B-B14F-4D97-AF65-F5344CB8AC3E}">
        <p14:creationId xmlns:p14="http://schemas.microsoft.com/office/powerpoint/2010/main" val="148335296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1113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0E7B8E-F91B-480A-9512-A63840019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0B94D"/>
                </a:solidFill>
              </a:defRPr>
            </a:pPr>
            <a:r>
              <a:rPr sz="1125" b="1">
                <a:solidFill>
                  <a:srgbClr val="F0B94D"/>
                </a:solidFill>
              </a:rPr>
              <a:t>MM_2D_6KProj Portfolio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0F7C2A-E45B-430B-8358-31A7C71A8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4F1E8"/>
                </a:solidFill>
              </a:defRPr>
            </a:pPr>
            <a:r>
              <a:rPr sz="2700" b="1">
                <a:solidFill>
                  <a:srgbClr val="F4F1E8"/>
                </a:solidFill>
              </a:rPr>
              <a:t>마지막으로 보여줄 메시지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949BA6-ABD2-4884-BB09-42C0C6D6F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946"/>
          </a:solidFill>
          <a:ln xmlns:a="http://schemas.openxmlformats.org/drawingml/2006/main" w="0">
            <a:solidFill>
              <a:srgbClr val="34394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68FDE6-0B5D-4271-B86A-352994F8D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00250"/>
            <a:ext cx="10096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4F1E8"/>
                </a:solidFill>
              </a:defRPr>
            </a:pPr>
            <a:r>
              <a:rPr sz="2550" b="1">
                <a:solidFill>
                  <a:srgbClr val="F4F1E8"/>
                </a:solidFill>
              </a:rPr>
              <a:t>완성 가능한 범위로 스코프를 줄이고,</a:t>
            </a:r>
          </a:p>
          <a:p xmlns:a="http://schemas.openxmlformats.org/drawingml/2006/main">
            <a:pPr algn="ctr">
              <a:defRPr sz="2550" b="1">
                <a:solidFill>
                  <a:srgbClr val="F4F1E8"/>
                </a:solidFill>
              </a:defRPr>
            </a:pPr>
            <a:r>
              <a:rPr sz="2550" b="1">
                <a:solidFill>
                  <a:srgbClr val="F4F1E8"/>
                </a:solidFill>
              </a:rPr>
              <a:t>액션 조작-전투 피드백-저장/진행 시스템을 끝까지 연결한 Unity 2D 보스러쉬 프로젝트입니다.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E2A308-8E0D-4646-B0F6-B9E21DF99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095750"/>
            <a:ext cx="8572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4F1E8"/>
                </a:solidFill>
              </a:defRPr>
            </a:pPr>
            <a:r>
              <a:rPr sz="1800" b="0">
                <a:solidFill>
                  <a:srgbClr val="F4F1E8"/>
                </a:solidFill>
              </a:rPr>
              <a:t>- 본인이 작성한 핵심 소스코드 포함</a:t>
            </a:r>
          </a:p>
          <a:p xmlns:a="http://schemas.openxmlformats.org/drawingml/2006/main">
            <a:pPr algn="l">
              <a:defRPr sz="1800" b="0">
                <a:solidFill>
                  <a:srgbClr val="F4F1E8"/>
                </a:solidFill>
              </a:defRPr>
            </a:pPr>
            <a:r>
              <a:rPr sz="1800" b="0">
                <a:solidFill>
                  <a:srgbClr val="F4F1E8"/>
                </a:solidFill>
              </a:rPr>
              <a:t>- 개발 철학: 작은 완성, 명확한 책임 분리, 플레이 흐름 우선</a:t>
            </a:r>
          </a:p>
          <a:p xmlns:a="http://schemas.openxmlformats.org/drawingml/2006/main">
            <a:pPr algn="l">
              <a:defRPr sz="1800" b="0">
                <a:solidFill>
                  <a:srgbClr val="F4F1E8"/>
                </a:solidFill>
              </a:defRPr>
            </a:pPr>
            <a:r>
              <a:rPr sz="1800" b="0">
                <a:solidFill>
                  <a:srgbClr val="F4F1E8"/>
                </a:solidFill>
              </a:rPr>
              <a:t>- 코딩 스타일: 방어적 null 처리, 싱글턴 생명주기 관리, 컴포넌트 조합 구조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C5BEAC-B234-410B-9204-3377CF842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829300"/>
            <a:ext cx="571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0B94D"/>
                </a:solidFill>
              </a:defRPr>
            </a:pPr>
            <a:r>
              <a:rPr sz="1950" b="1">
                <a:solidFill>
                  <a:srgbClr val="F0B94D"/>
                </a:solidFill>
              </a:rPr>
              <a:t>조성재 | sjjfire123@naver.com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C4127E-2319-4E79-9DFB-FDF7806BD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F8792"/>
                </a:solidFill>
              </a:defRPr>
            </a:pPr>
            <a:r>
              <a:rPr sz="975" b="0">
                <a:solidFill>
                  <a:srgbClr val="7F8792"/>
                </a:solidFill>
              </a:rPr>
              <a:t>조성재 | sjjfire123@naver.com | Unity Version Control | 15</a:t>
            </a:r>
          </a:p>
        </p:txBody>
      </p:sp>
    </p:spTree>
    <p:extLst>
      <p:ext uri="{BB962C8B-B14F-4D97-AF65-F5344CB8AC3E}">
        <p14:creationId xmlns:p14="http://schemas.microsoft.com/office/powerpoint/2010/main" val="212938933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2026-08-19T07:43:07.0540000Z</dcterms:created>
  <dcterms:modified xsi:type="dcterms:W3CDTF">2026-08-19T07:43:07.0540000Z</dcterms:modified>
</coreProperties>
</file>